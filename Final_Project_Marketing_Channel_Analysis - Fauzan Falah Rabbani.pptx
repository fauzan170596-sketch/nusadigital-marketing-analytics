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73" r:id="rId3"/>
    <p:sldId id="274" r:id="rId4"/>
    <p:sldId id="257" r:id="rId5"/>
    <p:sldId id="267" r:id="rId6"/>
    <p:sldId id="275" r:id="rId7"/>
    <p:sldId id="276" r:id="rId8"/>
    <p:sldId id="268" r:id="rId9"/>
    <p:sldId id="269" r:id="rId10"/>
    <p:sldId id="270" r:id="rId11"/>
    <p:sldId id="271" r:id="rId12"/>
    <p:sldId id="272" r:id="rId13"/>
    <p:sldId id="264" r:id="rId14"/>
    <p:sldId id="265" r:id="rId15"/>
    <p:sldId id="28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804"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9375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9000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2345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3844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1115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8431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7397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8493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5851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4303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4271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6485663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3847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685437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5406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61279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6800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304220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71123" y="2208303"/>
            <a:ext cx="8449749" cy="1323439"/>
          </a:xfrm>
          <a:prstGeom prst="rect">
            <a:avLst/>
          </a:prstGeom>
          <a:noFill/>
        </p:spPr>
        <p:txBody>
          <a:bodyPr wrap="none">
            <a:spAutoFit/>
          </a:bodyPr>
          <a:lstStyle/>
          <a:p>
            <a:pPr algn="ctr">
              <a:defRPr sz="2400" b="1">
                <a:solidFill>
                  <a:srgbClr val="1F4E79"/>
                </a:solidFill>
              </a:defRPr>
            </a:pPr>
            <a:r>
              <a:rPr lang="id-ID" sz="4000" dirty="0">
                <a:latin typeface="Times New Roman" panose="02020603050405020304" pitchFamily="18" charset="0"/>
                <a:cs typeface="Times New Roman" panose="02020603050405020304" pitchFamily="18" charset="0"/>
              </a:rPr>
              <a:t>Social Media Content Performance &amp;</a:t>
            </a:r>
            <a:endParaRPr lang="en-US" sz="4000" dirty="0">
              <a:latin typeface="Times New Roman" panose="02020603050405020304" pitchFamily="18" charset="0"/>
              <a:cs typeface="Times New Roman" panose="02020603050405020304" pitchFamily="18" charset="0"/>
            </a:endParaRPr>
          </a:p>
          <a:p>
            <a:pPr algn="ctr">
              <a:defRPr sz="2400" b="1">
                <a:solidFill>
                  <a:srgbClr val="1F4E79"/>
                </a:solidFill>
              </a:defRPr>
            </a:pPr>
            <a:r>
              <a:rPr lang="id-ID" sz="4000" dirty="0">
                <a:latin typeface="Times New Roman" panose="02020603050405020304" pitchFamily="18" charset="0"/>
                <a:cs typeface="Times New Roman" panose="02020603050405020304" pitchFamily="18" charset="0"/>
              </a:rPr>
              <a:t>Campaign Analytics Dashboard</a:t>
            </a:r>
          </a:p>
        </p:txBody>
      </p:sp>
      <p:sp>
        <p:nvSpPr>
          <p:cNvPr id="3" name="TextBox 2"/>
          <p:cNvSpPr txBox="1"/>
          <p:nvPr/>
        </p:nvSpPr>
        <p:spPr>
          <a:xfrm>
            <a:off x="3104849" y="3429000"/>
            <a:ext cx="5677499" cy="584775"/>
          </a:xfrm>
          <a:prstGeom prst="rect">
            <a:avLst/>
          </a:prstGeom>
          <a:noFill/>
        </p:spPr>
        <p:txBody>
          <a:bodyPr wrap="square">
            <a:spAutoFit/>
          </a:bodyPr>
          <a:lstStyle/>
          <a:p>
            <a:pPr algn="ctr">
              <a:defRPr sz="1600"/>
            </a:pPr>
            <a:r>
              <a:rPr b="1" dirty="0">
                <a:latin typeface="Times New Roman" panose="02020603050405020304" pitchFamily="18" charset="0"/>
                <a:cs typeface="Times New Roman" panose="02020603050405020304" pitchFamily="18" charset="0"/>
              </a:rPr>
              <a:t>Final Project </a:t>
            </a:r>
            <a:r>
              <a:rPr b="1" dirty="0" err="1">
                <a:latin typeface="Times New Roman" panose="02020603050405020304" pitchFamily="18" charset="0"/>
                <a:cs typeface="Times New Roman" panose="02020603050405020304" pitchFamily="18" charset="0"/>
              </a:rPr>
              <a:t>Dibimbing</a:t>
            </a:r>
            <a:r>
              <a:rPr b="1" dirty="0">
                <a:latin typeface="Times New Roman" panose="02020603050405020304" pitchFamily="18" charset="0"/>
                <a:cs typeface="Times New Roman" panose="02020603050405020304" pitchFamily="18" charset="0"/>
              </a:rPr>
              <a:t> | January–December 2025</a:t>
            </a:r>
            <a:endParaRPr lang="en-US" b="1" dirty="0">
              <a:latin typeface="Times New Roman" panose="02020603050405020304" pitchFamily="18" charset="0"/>
              <a:cs typeface="Times New Roman" panose="02020603050405020304" pitchFamily="18" charset="0"/>
            </a:endParaRPr>
          </a:p>
          <a:p>
            <a:pPr algn="ctr">
              <a:defRPr sz="1600"/>
            </a:pPr>
            <a:r>
              <a:rPr lang="en-US" b="1" dirty="0">
                <a:latin typeface="Times New Roman" panose="02020603050405020304" pitchFamily="18" charset="0"/>
                <a:cs typeface="Times New Roman" panose="02020603050405020304" pitchFamily="18" charset="0"/>
              </a:rPr>
              <a:t>Fauzan Falah Rabbani</a:t>
            </a:r>
            <a:endParaRPr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65544" y="297240"/>
            <a:ext cx="5260927" cy="584775"/>
          </a:xfrm>
          <a:prstGeom prst="rect">
            <a:avLst/>
          </a:prstGeom>
          <a:noFill/>
        </p:spPr>
        <p:txBody>
          <a:bodyPr wrap="none">
            <a:spAutoFit/>
          </a:bodyPr>
          <a:lstStyle/>
          <a:p>
            <a:pPr algn="ctr">
              <a:defRPr sz="2400" b="1">
                <a:solidFill>
                  <a:srgbClr val="1F4E79"/>
                </a:solidFill>
              </a:defRPr>
            </a:pPr>
            <a:r>
              <a:rPr lang="en-US" sz="3200" dirty="0">
                <a:latin typeface="Times New Roman" panose="02020603050405020304" pitchFamily="18" charset="0"/>
                <a:cs typeface="Times New Roman" panose="02020603050405020304" pitchFamily="18" charset="0"/>
              </a:rPr>
              <a:t>Introduction – </a:t>
            </a:r>
            <a:r>
              <a:rPr lang="en-US" sz="3200" dirty="0" err="1">
                <a:latin typeface="Times New Roman" panose="02020603050405020304" pitchFamily="18" charset="0"/>
                <a:cs typeface="Times New Roman" panose="02020603050405020304" pitchFamily="18" charset="0"/>
              </a:rPr>
              <a:t>Profil</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Singkat</a:t>
            </a:r>
            <a:endParaRPr sz="3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25183" y="3604388"/>
            <a:ext cx="11941634" cy="2062103"/>
          </a:xfrm>
          <a:prstGeom prst="rect">
            <a:avLst/>
          </a:prstGeom>
          <a:noFill/>
        </p:spPr>
        <p:txBody>
          <a:bodyPr wrap="square">
            <a:spAutoFit/>
          </a:bodyPr>
          <a:lstStyle/>
          <a:p>
            <a:pPr marL="342900" indent="-342900">
              <a:buFont typeface="Arial" panose="020B0604020202020204" pitchFamily="34" charset="0"/>
              <a:buChar char="•"/>
              <a:defRPr sz="1800"/>
            </a:pPr>
            <a:r>
              <a:rPr lang="en-US" sz="1600" dirty="0">
                <a:latin typeface="Times New Roman" panose="02020603050405020304" pitchFamily="18" charset="0"/>
                <a:cs typeface="Times New Roman" panose="02020603050405020304" pitchFamily="18" charset="0"/>
              </a:rPr>
              <a:t>Nama					: Fauzan Falah Rabbani</a:t>
            </a:r>
          </a:p>
          <a:p>
            <a:pPr marL="342900" indent="-342900">
              <a:buFont typeface="Arial" panose="020B0604020202020204" pitchFamily="34" charset="0"/>
              <a:buChar char="•"/>
              <a:defRPr sz="1800"/>
            </a:pPr>
            <a:r>
              <a:rPr lang="en-US" sz="1600" dirty="0">
                <a:latin typeface="Times New Roman" panose="02020603050405020304" pitchFamily="18" charset="0"/>
                <a:cs typeface="Times New Roman" panose="02020603050405020304" pitchFamily="18" charset="0"/>
              </a:rPr>
              <a:t>Pendidikan				: </a:t>
            </a:r>
            <a:r>
              <a:rPr lang="es-ES" sz="1600" dirty="0" err="1">
                <a:latin typeface="Times New Roman" panose="02020603050405020304" pitchFamily="18" charset="0"/>
                <a:cs typeface="Times New Roman" panose="02020603050405020304" pitchFamily="18" charset="0"/>
              </a:rPr>
              <a:t>Universitas</a:t>
            </a:r>
            <a:r>
              <a:rPr lang="es-ES" sz="1600" dirty="0">
                <a:latin typeface="Times New Roman" panose="02020603050405020304" pitchFamily="18" charset="0"/>
                <a:cs typeface="Times New Roman" panose="02020603050405020304" pitchFamily="18" charset="0"/>
              </a:rPr>
              <a:t> </a:t>
            </a:r>
            <a:r>
              <a:rPr lang="es-ES" sz="1600" dirty="0" err="1">
                <a:latin typeface="Times New Roman" panose="02020603050405020304" pitchFamily="18" charset="0"/>
                <a:cs typeface="Times New Roman" panose="02020603050405020304" pitchFamily="18" charset="0"/>
              </a:rPr>
              <a:t>Pancasila</a:t>
            </a:r>
            <a:r>
              <a:rPr lang="es-ES" sz="1600" dirty="0">
                <a:latin typeface="Times New Roman" panose="02020603050405020304" pitchFamily="18" charset="0"/>
                <a:cs typeface="Times New Roman" panose="02020603050405020304" pitchFamily="18" charset="0"/>
              </a:rPr>
              <a:t>, </a:t>
            </a:r>
            <a:r>
              <a:rPr lang="es-ES" sz="1600" dirty="0" err="1">
                <a:latin typeface="Times New Roman" panose="02020603050405020304" pitchFamily="18" charset="0"/>
                <a:cs typeface="Times New Roman" panose="02020603050405020304" pitchFamily="18" charset="0"/>
              </a:rPr>
              <a:t>Sarjana</a:t>
            </a:r>
            <a:r>
              <a:rPr lang="es-ES" sz="1600" dirty="0">
                <a:latin typeface="Times New Roman" panose="02020603050405020304" pitchFamily="18" charset="0"/>
                <a:cs typeface="Times New Roman" panose="02020603050405020304" pitchFamily="18" charset="0"/>
              </a:rPr>
              <a:t> </a:t>
            </a:r>
            <a:r>
              <a:rPr lang="es-ES" sz="1600" dirty="0" err="1">
                <a:latin typeface="Times New Roman" panose="02020603050405020304" pitchFamily="18" charset="0"/>
                <a:cs typeface="Times New Roman" panose="02020603050405020304" pitchFamily="18" charset="0"/>
              </a:rPr>
              <a:t>Hukum</a:t>
            </a:r>
            <a:r>
              <a:rPr lang="es-ES" sz="1600" dirty="0">
                <a:latin typeface="Times New Roman" panose="02020603050405020304" pitchFamily="18" charset="0"/>
                <a:cs typeface="Times New Roman" panose="02020603050405020304" pitchFamily="18" charset="0"/>
              </a:rPr>
              <a:t> (S.H.)</a:t>
            </a:r>
          </a:p>
          <a:p>
            <a:pPr marL="342900" indent="-342900">
              <a:buFont typeface="Arial" panose="020B0604020202020204" pitchFamily="34" charset="0"/>
              <a:buChar char="•"/>
              <a:defRPr sz="1800"/>
            </a:pPr>
            <a:r>
              <a:rPr lang="es-ES" sz="1600" dirty="0" err="1">
                <a:latin typeface="Times New Roman" panose="02020603050405020304" pitchFamily="18" charset="0"/>
                <a:cs typeface="Times New Roman" panose="02020603050405020304" pitchFamily="18" charset="0"/>
              </a:rPr>
              <a:t>Pengalaman</a:t>
            </a:r>
            <a:r>
              <a:rPr lang="es-ES" sz="1600" dirty="0">
                <a:latin typeface="Times New Roman" panose="02020603050405020304" pitchFamily="18" charset="0"/>
                <a:cs typeface="Times New Roman" panose="02020603050405020304" pitchFamily="18" charset="0"/>
              </a:rPr>
              <a:t> </a:t>
            </a:r>
            <a:r>
              <a:rPr lang="es-ES" sz="1600" dirty="0" err="1">
                <a:latin typeface="Times New Roman" panose="02020603050405020304" pitchFamily="18" charset="0"/>
                <a:cs typeface="Times New Roman" panose="02020603050405020304" pitchFamily="18" charset="0"/>
              </a:rPr>
              <a:t>Kerja</a:t>
            </a:r>
            <a:r>
              <a:rPr lang="es-ES" sz="1600" dirty="0">
                <a:latin typeface="Times New Roman" panose="02020603050405020304" pitchFamily="18" charset="0"/>
                <a:cs typeface="Times New Roman" panose="02020603050405020304" pitchFamily="18" charset="0"/>
              </a:rPr>
              <a:t>		: </a:t>
            </a:r>
            <a:r>
              <a:rPr lang="it-IT" sz="1600" dirty="0">
                <a:latin typeface="Times New Roman" panose="02020603050405020304" pitchFamily="18" charset="0"/>
                <a:cs typeface="Times New Roman" panose="02020603050405020304" pitchFamily="18" charset="0"/>
              </a:rPr>
              <a:t>Legal &amp; Compliance Staff (4 tahun 3 bulan) di Tugu Insurance</a:t>
            </a:r>
          </a:p>
          <a:p>
            <a:pPr marL="342900" indent="-342900">
              <a:buFont typeface="Arial" panose="020B0604020202020204" pitchFamily="34" charset="0"/>
              <a:buChar char="•"/>
              <a:defRPr sz="1800"/>
            </a:pPr>
            <a:r>
              <a:rPr lang="en-US" sz="1600" dirty="0" err="1">
                <a:latin typeface="Times New Roman" panose="02020603050405020304" pitchFamily="18" charset="0"/>
                <a:cs typeface="Times New Roman" panose="02020603050405020304" pitchFamily="18" charset="0"/>
              </a:rPr>
              <a:t>Bidang</a:t>
            </a:r>
            <a:r>
              <a:rPr lang="en-US" sz="1600" dirty="0">
                <a:latin typeface="Times New Roman" panose="02020603050405020304" pitchFamily="18" charset="0"/>
                <a:cs typeface="Times New Roman" panose="02020603050405020304" pitchFamily="18" charset="0"/>
              </a:rPr>
              <a:t> yang </a:t>
            </a:r>
            <a:r>
              <a:rPr lang="en-US" sz="1600" dirty="0" err="1">
                <a:latin typeface="Times New Roman" panose="02020603050405020304" pitchFamily="18" charset="0"/>
                <a:cs typeface="Times New Roman" panose="02020603050405020304" pitchFamily="18" charset="0"/>
              </a:rPr>
              <a:t>Dipelajari</a:t>
            </a:r>
            <a:r>
              <a:rPr lang="en-US" sz="1600" dirty="0">
                <a:latin typeface="Times New Roman" panose="02020603050405020304" pitchFamily="18" charset="0"/>
                <a:cs typeface="Times New Roman" panose="02020603050405020304" pitchFamily="18" charset="0"/>
              </a:rPr>
              <a:t>		: Python, SQL, Excel, Tableau, Power BI, Exploratory Data Analysis.</a:t>
            </a:r>
          </a:p>
          <a:p>
            <a:pPr marL="342900" indent="-342900">
              <a:buFont typeface="Arial" panose="020B0604020202020204" pitchFamily="34" charset="0"/>
              <a:buChar char="•"/>
              <a:defRPr sz="1800"/>
            </a:pPr>
            <a:r>
              <a:rPr lang="en-US" sz="1600" dirty="0" err="1">
                <a:latin typeface="Times New Roman" panose="02020603050405020304" pitchFamily="18" charset="0"/>
                <a:cs typeface="Times New Roman" panose="02020603050405020304" pitchFamily="18" charset="0"/>
              </a:rPr>
              <a:t>Tujuan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Karier</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Menjadi</a:t>
            </a:r>
            <a:r>
              <a:rPr lang="en-US" sz="1600" dirty="0">
                <a:latin typeface="Times New Roman" panose="02020603050405020304" pitchFamily="18" charset="0"/>
                <a:cs typeface="Times New Roman" panose="02020603050405020304" pitchFamily="18" charset="0"/>
              </a:rPr>
              <a:t> Data Analyst yang </a:t>
            </a:r>
            <a:r>
              <a:rPr lang="en-US" sz="1600" dirty="0" err="1">
                <a:latin typeface="Times New Roman" panose="02020603050405020304" pitchFamily="18" charset="0"/>
                <a:cs typeface="Times New Roman" panose="02020603050405020304" pitchFamily="18" charset="0"/>
              </a:rPr>
              <a:t>mampu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membantu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bisnis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mengambil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keputusan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berbasis</a:t>
            </a:r>
            <a:r>
              <a:rPr lang="en-US" sz="1600" dirty="0">
                <a:latin typeface="Times New Roman" panose="02020603050405020304" pitchFamily="18" charset="0"/>
                <a:cs typeface="Times New Roman" panose="02020603050405020304" pitchFamily="18" charset="0"/>
              </a:rPr>
              <a:t> data.</a:t>
            </a:r>
          </a:p>
          <a:p>
            <a:pPr marL="342900" indent="-342900">
              <a:buFont typeface="Arial" panose="020B0604020202020204" pitchFamily="34" charset="0"/>
              <a:buChar char="•"/>
              <a:defRPr sz="1800"/>
            </a:pPr>
            <a:r>
              <a:rPr lang="en-US" sz="1600" dirty="0" err="1">
                <a:latin typeface="Times New Roman" panose="02020603050405020304" pitchFamily="18" charset="0"/>
                <a:cs typeface="Times New Roman" panose="02020603050405020304" pitchFamily="18" charset="0"/>
              </a:rPr>
              <a:t>Relevansi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dengan</a:t>
            </a:r>
            <a:r>
              <a:rPr lang="en-US" sz="1600" dirty="0">
                <a:latin typeface="Times New Roman" panose="02020603050405020304" pitchFamily="18" charset="0"/>
                <a:cs typeface="Times New Roman" panose="02020603050405020304" pitchFamily="18" charset="0"/>
              </a:rPr>
              <a:t> DABI	: </a:t>
            </a:r>
            <a:r>
              <a:rPr lang="en-US" sz="1600" dirty="0" err="1">
                <a:latin typeface="Times New Roman" panose="02020603050405020304" pitchFamily="18" charset="0"/>
                <a:cs typeface="Times New Roman" panose="02020603050405020304" pitchFamily="18" charset="0"/>
              </a:rPr>
              <a:t>Pengalaman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kerja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sebelumnya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memberikan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dasar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kemampuan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dalam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mengelola</a:t>
            </a:r>
            <a:r>
              <a:rPr lang="en-US" sz="1600" dirty="0">
                <a:latin typeface="Times New Roman" panose="02020603050405020304" pitchFamily="18" charset="0"/>
                <a:cs typeface="Times New Roman" panose="02020603050405020304" pitchFamily="18" charset="0"/>
              </a:rPr>
              <a:t> data, </a:t>
            </a:r>
            <a:r>
              <a:rPr lang="en-US" sz="1600" dirty="0" err="1">
                <a:latin typeface="Times New Roman" panose="02020603050405020304" pitchFamily="18" charset="0"/>
                <a:cs typeface="Times New Roman" panose="02020603050405020304" pitchFamily="18" charset="0"/>
              </a:rPr>
              <a:t>melakukan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validasi</a:t>
            </a:r>
            <a:r>
              <a:rPr lang="en-US" sz="1600" dirty="0">
                <a:latin typeface="Times New Roman" panose="02020603050405020304" pitchFamily="18" charset="0"/>
                <a:cs typeface="Times New Roman" panose="02020603050405020304" pitchFamily="18" charset="0"/>
              </a:rPr>
              <a:t> </a:t>
            </a:r>
          </a:p>
          <a:p>
            <a:pPr>
              <a:defRPr sz="1800"/>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dokumen</a:t>
            </a:r>
            <a:r>
              <a:rPr lang="en-US" sz="1600" dirty="0">
                <a:latin typeface="Times New Roman" panose="02020603050405020304" pitchFamily="18" charset="0"/>
                <a:cs typeface="Times New Roman" panose="02020603050405020304" pitchFamily="18" charset="0"/>
              </a:rPr>
              <a:t>, monitoring </a:t>
            </a:r>
            <a:r>
              <a:rPr lang="en-US" sz="1600" dirty="0" err="1">
                <a:latin typeface="Times New Roman" panose="02020603050405020304" pitchFamily="18" charset="0"/>
                <a:cs typeface="Times New Roman" panose="02020603050405020304" pitchFamily="18" charset="0"/>
              </a:rPr>
              <a:t>kepatuhan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serta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menyusun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laporan</a:t>
            </a:r>
            <a:r>
              <a:rPr lang="en-US" sz="1600" dirty="0">
                <a:latin typeface="Times New Roman" panose="02020603050405020304" pitchFamily="18" charset="0"/>
                <a:cs typeface="Times New Roman" panose="02020603050405020304" pitchFamily="18" charset="0"/>
              </a:rPr>
              <a:t> yang </a:t>
            </a:r>
            <a:r>
              <a:rPr lang="en-US" sz="1600" dirty="0" err="1">
                <a:latin typeface="Times New Roman" panose="02020603050405020304" pitchFamily="18" charset="0"/>
                <a:cs typeface="Times New Roman" panose="02020603050405020304" pitchFamily="18" charset="0"/>
              </a:rPr>
              <a:t>terstruktur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Kemampuan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tersebut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menjadi</a:t>
            </a:r>
            <a:r>
              <a:rPr lang="en-US" sz="1600" dirty="0">
                <a:latin typeface="Times New Roman" panose="02020603050405020304" pitchFamily="18" charset="0"/>
                <a:cs typeface="Times New Roman" panose="02020603050405020304" pitchFamily="18" charset="0"/>
              </a:rPr>
              <a:t> </a:t>
            </a:r>
          </a:p>
          <a:p>
            <a:pPr>
              <a:defRPr sz="1800"/>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fondasi</a:t>
            </a:r>
            <a:r>
              <a:rPr lang="en-US" sz="1600" dirty="0">
                <a:latin typeface="Times New Roman" panose="02020603050405020304" pitchFamily="18" charset="0"/>
                <a:cs typeface="Times New Roman" panose="02020603050405020304" pitchFamily="18" charset="0"/>
              </a:rPr>
              <a:t> yang </a:t>
            </a:r>
            <a:r>
              <a:rPr lang="en-US" sz="1600" dirty="0" err="1">
                <a:latin typeface="Times New Roman" panose="02020603050405020304" pitchFamily="18" charset="0"/>
                <a:cs typeface="Times New Roman" panose="02020603050405020304" pitchFamily="18" charset="0"/>
              </a:rPr>
              <a:t>relevan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ketika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beralih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bidang</a:t>
            </a:r>
            <a:r>
              <a:rPr lang="en-US" sz="1600" dirty="0">
                <a:latin typeface="Times New Roman" panose="02020603050405020304" pitchFamily="18" charset="0"/>
                <a:cs typeface="Times New Roman" panose="02020603050405020304" pitchFamily="18" charset="0"/>
              </a:rPr>
              <a:t> Data Analytics.</a:t>
            </a:r>
          </a:p>
        </p:txBody>
      </p:sp>
      <p:pic>
        <p:nvPicPr>
          <p:cNvPr id="5" name="Picture 4">
            <a:extLst>
              <a:ext uri="{FF2B5EF4-FFF2-40B4-BE49-F238E27FC236}">
                <a16:creationId xmlns:a16="http://schemas.microsoft.com/office/drawing/2014/main" id="{4776D4C6-68B4-608E-BAE3-F12B72F1D38D}"/>
              </a:ext>
            </a:extLst>
          </p:cNvPr>
          <p:cNvPicPr>
            <a:picLocks noChangeAspect="1"/>
          </p:cNvPicPr>
          <p:nvPr/>
        </p:nvPicPr>
        <p:blipFill>
          <a:blip r:embed="rId2"/>
          <a:stretch>
            <a:fillRect/>
          </a:stretch>
        </p:blipFill>
        <p:spPr>
          <a:xfrm>
            <a:off x="5370781" y="882015"/>
            <a:ext cx="1450437" cy="2178728"/>
          </a:xfrm>
          <a:prstGeom prst="rect">
            <a:avLst/>
          </a:prstGeom>
        </p:spPr>
      </p:pic>
      <p:sp>
        <p:nvSpPr>
          <p:cNvPr id="4" name="Frame 3">
            <a:extLst>
              <a:ext uri="{FF2B5EF4-FFF2-40B4-BE49-F238E27FC236}">
                <a16:creationId xmlns:a16="http://schemas.microsoft.com/office/drawing/2014/main" id="{9EC2587A-D3E1-0272-2B2F-3511CD9DC1F7}"/>
              </a:ext>
            </a:extLst>
          </p:cNvPr>
          <p:cNvSpPr/>
          <p:nvPr/>
        </p:nvSpPr>
        <p:spPr>
          <a:xfrm>
            <a:off x="125183" y="3284625"/>
            <a:ext cx="12066817" cy="2691360"/>
          </a:xfrm>
          <a:prstGeom prst="frame">
            <a:avLst>
              <a:gd name="adj1" fmla="val 753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Tree>
    <p:extLst>
      <p:ext uri="{BB962C8B-B14F-4D97-AF65-F5344CB8AC3E}">
        <p14:creationId xmlns:p14="http://schemas.microsoft.com/office/powerpoint/2010/main" val="1280592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18304" y="297240"/>
            <a:ext cx="6155403" cy="584775"/>
          </a:xfrm>
          <a:prstGeom prst="rect">
            <a:avLst/>
          </a:prstGeom>
          <a:noFill/>
        </p:spPr>
        <p:txBody>
          <a:bodyPr wrap="none">
            <a:spAutoFit/>
          </a:bodyPr>
          <a:lstStyle/>
          <a:p>
            <a:pPr algn="ctr">
              <a:defRPr sz="2400" b="1">
                <a:solidFill>
                  <a:srgbClr val="1F4E79"/>
                </a:solidFill>
              </a:defRPr>
            </a:pPr>
            <a:r>
              <a:rPr lang="id-ID" sz="3200" dirty="0">
                <a:latin typeface="Times New Roman" panose="02020603050405020304" pitchFamily="18" charset="0"/>
                <a:cs typeface="Times New Roman" panose="02020603050405020304" pitchFamily="18" charset="0"/>
              </a:rPr>
              <a:t>Business Background &amp; </a:t>
            </a:r>
            <a:r>
              <a:rPr lang="en-US" sz="3200" dirty="0">
                <a:latin typeface="Times New Roman" panose="02020603050405020304" pitchFamily="18" charset="0"/>
                <a:cs typeface="Times New Roman" panose="02020603050405020304" pitchFamily="18" charset="0"/>
              </a:rPr>
              <a:t>Problems</a:t>
            </a:r>
            <a:endParaRPr lang="id-ID" sz="3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71596" y="1049056"/>
            <a:ext cx="11848807" cy="4031873"/>
          </a:xfrm>
          <a:prstGeom prst="rect">
            <a:avLst/>
          </a:prstGeom>
          <a:noFill/>
        </p:spPr>
        <p:txBody>
          <a:bodyPr wrap="square">
            <a:spAutoFit/>
          </a:bodyPr>
          <a:lstStyle/>
          <a:p>
            <a:pPr>
              <a:defRPr sz="1800"/>
            </a:pPr>
            <a:r>
              <a:rPr lang="id-ID" sz="1600" dirty="0">
                <a:latin typeface="Times New Roman" panose="02020603050405020304" pitchFamily="18" charset="0"/>
                <a:cs typeface="Times New Roman" panose="02020603050405020304" pitchFamily="18" charset="0"/>
              </a:rPr>
              <a:t>NusaDigital Media mengelola kampanye multi-channel (5 platform) untuk menjangkau audiens secara luas. Evaluasi menyeluruh diperlukan untuk memastikan efisiensi alokasi sumber daya dan strategi konten berbasis data.</a:t>
            </a:r>
            <a:endParaRPr lang="en-US" sz="1600" dirty="0">
              <a:latin typeface="Times New Roman" panose="02020603050405020304" pitchFamily="18" charset="0"/>
              <a:cs typeface="Times New Roman" panose="02020603050405020304" pitchFamily="18" charset="0"/>
            </a:endParaRPr>
          </a:p>
          <a:p>
            <a:pPr>
              <a:defRPr sz="1800"/>
            </a:pPr>
            <a:endParaRPr lang="en-US" sz="1600" dirty="0">
              <a:latin typeface="Times New Roman" panose="02020603050405020304" pitchFamily="18" charset="0"/>
              <a:cs typeface="Times New Roman" panose="02020603050405020304" pitchFamily="18" charset="0"/>
            </a:endParaRPr>
          </a:p>
          <a:p>
            <a:pPr>
              <a:defRPr sz="1800"/>
            </a:pPr>
            <a:r>
              <a:rPr lang="en-US" sz="1600" b="1" dirty="0">
                <a:latin typeface="Times New Roman" panose="02020603050405020304" pitchFamily="18" charset="0"/>
                <a:cs typeface="Times New Roman" panose="02020603050405020304" pitchFamily="18" charset="0"/>
              </a:rPr>
              <a:t>Core Business Problems</a:t>
            </a:r>
            <a:r>
              <a:rPr lang="en-US" sz="1600" dirty="0">
                <a:latin typeface="Times New Roman" panose="02020603050405020304" pitchFamily="18" charset="0"/>
                <a:cs typeface="Times New Roman" panose="02020603050405020304" pitchFamily="18" charset="0"/>
              </a:rPr>
              <a:t>:</a:t>
            </a:r>
          </a:p>
          <a:p>
            <a:pPr marL="457200" indent="-457200">
              <a:buFont typeface="+mj-lt"/>
              <a:buAutoNum type="arabicPeriod"/>
              <a:defRPr sz="1800"/>
            </a:pPr>
            <a:r>
              <a:rPr lang="id-ID" sz="1600" b="1" dirty="0">
                <a:latin typeface="Times New Roman" panose="02020603050405020304" pitchFamily="18" charset="0"/>
                <a:cs typeface="Times New Roman" panose="02020603050405020304" pitchFamily="18" charset="0"/>
              </a:rPr>
              <a:t>Resource &amp; Effort Mismatch:</a:t>
            </a:r>
            <a:r>
              <a:rPr lang="id-ID" sz="1600" dirty="0">
                <a:latin typeface="Times New Roman" panose="02020603050405020304" pitchFamily="18" charset="0"/>
                <a:cs typeface="Times New Roman" panose="02020603050405020304" pitchFamily="18" charset="0"/>
              </a:rPr>
              <a:t> Alokasi produksi tinggi pada format video (</a:t>
            </a:r>
            <a:r>
              <a:rPr lang="id-ID" sz="1600" i="1" dirty="0">
                <a:latin typeface="Times New Roman" panose="02020603050405020304" pitchFamily="18" charset="0"/>
                <a:cs typeface="Times New Roman" panose="02020603050405020304" pitchFamily="18" charset="0"/>
              </a:rPr>
              <a:t>Reels/Video</a:t>
            </a:r>
            <a:r>
              <a:rPr lang="id-ID" sz="1600" dirty="0">
                <a:latin typeface="Times New Roman" panose="02020603050405020304" pitchFamily="18" charset="0"/>
                <a:cs typeface="Times New Roman" panose="02020603050405020304" pitchFamily="18" charset="0"/>
              </a:rPr>
              <a:t>) belum sebanding dengan perolehan </a:t>
            </a:r>
            <a:r>
              <a:rPr lang="id-ID" sz="1600" i="1" dirty="0">
                <a:latin typeface="Times New Roman" panose="02020603050405020304" pitchFamily="18" charset="0"/>
                <a:cs typeface="Times New Roman" panose="02020603050405020304" pitchFamily="18" charset="0"/>
              </a:rPr>
              <a:t>Engagement Rate</a:t>
            </a:r>
            <a:r>
              <a:rPr lang="id-ID" sz="1600" dirty="0">
                <a:latin typeface="Times New Roman" panose="02020603050405020304" pitchFamily="18" charset="0"/>
                <a:cs typeface="Times New Roman" panose="02020603050405020304" pitchFamily="18" charset="0"/>
              </a:rPr>
              <a:t> yang justru didominasi visual statis (</a:t>
            </a:r>
            <a:r>
              <a:rPr lang="id-ID" sz="1600" i="1" dirty="0">
                <a:latin typeface="Times New Roman" panose="02020603050405020304" pitchFamily="18" charset="0"/>
                <a:cs typeface="Times New Roman" panose="02020603050405020304" pitchFamily="18" charset="0"/>
              </a:rPr>
              <a:t>Infographic/Image</a:t>
            </a:r>
            <a:r>
              <a:rPr lang="id-ID"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a:t>
            </a:r>
          </a:p>
          <a:p>
            <a:pPr marL="457200" indent="-457200">
              <a:buFont typeface="+mj-lt"/>
              <a:buAutoNum type="arabicPeriod"/>
              <a:defRPr sz="1800"/>
            </a:pPr>
            <a:r>
              <a:rPr lang="id-ID" sz="1600" b="1" dirty="0">
                <a:latin typeface="Times New Roman" panose="02020603050405020304" pitchFamily="18" charset="0"/>
                <a:cs typeface="Times New Roman" panose="02020603050405020304" pitchFamily="18" charset="0"/>
              </a:rPr>
              <a:t>False Signal Hazard:</a:t>
            </a:r>
            <a:r>
              <a:rPr lang="id-ID" sz="1600" dirty="0">
                <a:latin typeface="Times New Roman" panose="02020603050405020304" pitchFamily="18" charset="0"/>
                <a:cs typeface="Times New Roman" panose="02020603050405020304" pitchFamily="18" charset="0"/>
              </a:rPr>
              <a:t> Evaluasi parsial berbasis total </a:t>
            </a:r>
            <a:r>
              <a:rPr lang="id-ID" sz="1600" i="1" dirty="0">
                <a:latin typeface="Times New Roman" panose="02020603050405020304" pitchFamily="18" charset="0"/>
                <a:cs typeface="Times New Roman" panose="02020603050405020304" pitchFamily="18" charset="0"/>
              </a:rPr>
              <a:t>Reach</a:t>
            </a:r>
            <a:r>
              <a:rPr lang="id-ID" sz="1600" dirty="0">
                <a:latin typeface="Times New Roman" panose="02020603050405020304" pitchFamily="18" charset="0"/>
                <a:cs typeface="Times New Roman" panose="02020603050405020304" pitchFamily="18" charset="0"/>
              </a:rPr>
              <a:t> berisiko memicu sinyal keliru terhadap efisiensi platform (seperti TikTok) tanpa melihat rasio per postingannya</a:t>
            </a:r>
            <a:r>
              <a:rPr lang="en-US" sz="1600" dirty="0">
                <a:latin typeface="Times New Roman" panose="02020603050405020304" pitchFamily="18" charset="0"/>
                <a:cs typeface="Times New Roman" panose="02020603050405020304" pitchFamily="18" charset="0"/>
              </a:rPr>
              <a:t>.</a:t>
            </a:r>
          </a:p>
          <a:p>
            <a:pPr marL="457200" indent="-457200">
              <a:buFont typeface="+mj-lt"/>
              <a:buAutoNum type="arabicPeriod"/>
              <a:defRPr sz="1800"/>
            </a:pPr>
            <a:r>
              <a:rPr lang="id-ID" sz="1600" b="1" dirty="0">
                <a:latin typeface="Times New Roman" panose="02020603050405020304" pitchFamily="18" charset="0"/>
                <a:cs typeface="Times New Roman" panose="02020603050405020304" pitchFamily="18" charset="0"/>
              </a:rPr>
              <a:t>Operational Inconsistency:</a:t>
            </a:r>
            <a:r>
              <a:rPr lang="id-ID" sz="1600" dirty="0">
                <a:latin typeface="Times New Roman" panose="02020603050405020304" pitchFamily="18" charset="0"/>
                <a:cs typeface="Times New Roman" panose="02020603050405020304" pitchFamily="18" charset="0"/>
              </a:rPr>
              <a:t> Fluktuasi volume publikasi yang tajam (drop di April &amp; November) akibat ketiadaan standardisasi </a:t>
            </a:r>
            <a:r>
              <a:rPr lang="id-ID" sz="1600" i="1" dirty="0">
                <a:latin typeface="Times New Roman" panose="02020603050405020304" pitchFamily="18" charset="0"/>
                <a:cs typeface="Times New Roman" panose="02020603050405020304" pitchFamily="18" charset="0"/>
              </a:rPr>
              <a:t>content buffer</a:t>
            </a:r>
            <a:r>
              <a:rPr lang="id-ID" sz="1600" dirty="0">
                <a:latin typeface="Times New Roman" panose="02020603050405020304" pitchFamily="18" charset="0"/>
                <a:cs typeface="Times New Roman" panose="02020603050405020304" pitchFamily="18" charset="0"/>
              </a:rPr>
              <a:t> bulanan</a:t>
            </a:r>
            <a:r>
              <a:rPr lang="en-US" sz="1600" dirty="0">
                <a:latin typeface="Times New Roman" panose="02020603050405020304" pitchFamily="18" charset="0"/>
                <a:cs typeface="Times New Roman" panose="02020603050405020304" pitchFamily="18" charset="0"/>
              </a:rPr>
              <a:t>.</a:t>
            </a:r>
          </a:p>
          <a:p>
            <a:pPr>
              <a:defRPr sz="1800"/>
            </a:pPr>
            <a:endParaRPr lang="en-US" sz="1600" dirty="0">
              <a:latin typeface="Times New Roman" panose="02020603050405020304" pitchFamily="18" charset="0"/>
              <a:cs typeface="Times New Roman" panose="02020603050405020304" pitchFamily="18" charset="0"/>
            </a:endParaRPr>
          </a:p>
          <a:p>
            <a:pPr>
              <a:defRPr sz="1800"/>
            </a:pPr>
            <a:r>
              <a:rPr lang="en-US" sz="1600" dirty="0">
                <a:latin typeface="Times New Roman" panose="02020603050405020304" pitchFamily="18" charset="0"/>
                <a:cs typeface="Times New Roman" panose="02020603050405020304" pitchFamily="18" charset="0"/>
              </a:rPr>
              <a:t>Business Questions:</a:t>
            </a:r>
          </a:p>
          <a:p>
            <a:pPr marL="457200" indent="-457200">
              <a:buFont typeface="+mj-lt"/>
              <a:buAutoNum type="arabicPeriod"/>
              <a:defRPr sz="1800"/>
            </a:pPr>
            <a:r>
              <a:rPr lang="id-ID" sz="1600" dirty="0">
                <a:latin typeface="Times New Roman" panose="02020603050405020304" pitchFamily="18" charset="0"/>
                <a:cs typeface="Times New Roman" panose="02020603050405020304" pitchFamily="18" charset="0"/>
              </a:rPr>
              <a:t>Platform dan jenis konten manakah yang paling efisien dalam mendatangkan</a:t>
            </a:r>
            <a:endParaRPr lang="en-US" sz="1600" dirty="0">
              <a:latin typeface="Times New Roman" panose="02020603050405020304" pitchFamily="18" charset="0"/>
              <a:cs typeface="Times New Roman" panose="02020603050405020304" pitchFamily="18" charset="0"/>
            </a:endParaRPr>
          </a:p>
          <a:p>
            <a:pPr>
              <a:defRPr sz="1800"/>
            </a:pPr>
            <a:r>
              <a:rPr lang="en-US" sz="1600" i="1" dirty="0">
                <a:latin typeface="Times New Roman" panose="02020603050405020304" pitchFamily="18" charset="0"/>
                <a:cs typeface="Times New Roman" panose="02020603050405020304" pitchFamily="18" charset="0"/>
              </a:rPr>
              <a:t>	Reach</a:t>
            </a:r>
            <a:r>
              <a:rPr lang="id-ID" sz="1600" dirty="0">
                <a:latin typeface="Times New Roman" panose="02020603050405020304" pitchFamily="18" charset="0"/>
                <a:cs typeface="Times New Roman" panose="02020603050405020304" pitchFamily="18" charset="0"/>
              </a:rPr>
              <a:t>, </a:t>
            </a:r>
            <a:r>
              <a:rPr lang="id-ID" sz="1600" i="1" dirty="0">
                <a:latin typeface="Times New Roman" panose="02020603050405020304" pitchFamily="18" charset="0"/>
                <a:cs typeface="Times New Roman" panose="02020603050405020304" pitchFamily="18" charset="0"/>
              </a:rPr>
              <a:t>Engagement</a:t>
            </a:r>
            <a:r>
              <a:rPr lang="id-ID" sz="1600" dirty="0">
                <a:latin typeface="Times New Roman" panose="02020603050405020304" pitchFamily="18" charset="0"/>
                <a:cs typeface="Times New Roman" panose="02020603050405020304" pitchFamily="18" charset="0"/>
              </a:rPr>
              <a:t>, serta konversi </a:t>
            </a:r>
            <a:r>
              <a:rPr lang="id-ID" sz="1600" i="1" dirty="0">
                <a:latin typeface="Times New Roman" panose="02020603050405020304" pitchFamily="18" charset="0"/>
                <a:cs typeface="Times New Roman" panose="02020603050405020304" pitchFamily="18" charset="0"/>
              </a:rPr>
              <a:t>Clicks</a:t>
            </a:r>
            <a:r>
              <a:rPr lang="id-ID"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457200" indent="-457200">
              <a:buFont typeface="+mj-lt"/>
              <a:buAutoNum type="arabicPeriod" startAt="2"/>
              <a:defRPr sz="1800"/>
            </a:pPr>
            <a:r>
              <a:rPr lang="id-ID" sz="1600" dirty="0">
                <a:latin typeface="Times New Roman" panose="02020603050405020304" pitchFamily="18" charset="0"/>
                <a:cs typeface="Times New Roman" panose="02020603050405020304" pitchFamily="18" charset="0"/>
              </a:rPr>
              <a:t>Langkah strategis apa yang harus diambil untuk menjaga konsistensi produksi</a:t>
            </a:r>
            <a:endParaRPr lang="en-US" sz="1600" dirty="0">
              <a:latin typeface="Times New Roman" panose="02020603050405020304" pitchFamily="18" charset="0"/>
              <a:cs typeface="Times New Roman" panose="02020603050405020304" pitchFamily="18" charset="0"/>
            </a:endParaRPr>
          </a:p>
          <a:p>
            <a:pPr>
              <a:defRPr sz="1800"/>
            </a:pP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dan mengoptimalkan alokasi </a:t>
            </a:r>
            <a:r>
              <a:rPr lang="id-ID" sz="1600" i="1" dirty="0">
                <a:latin typeface="Times New Roman" panose="02020603050405020304" pitchFamily="18" charset="0"/>
                <a:cs typeface="Times New Roman" panose="02020603050405020304" pitchFamily="18" charset="0"/>
              </a:rPr>
              <a:t>resource</a:t>
            </a:r>
            <a:r>
              <a:rPr lang="id-ID" sz="1600" dirty="0">
                <a:latin typeface="Times New Roman" panose="02020603050405020304" pitchFamily="18" charset="0"/>
                <a:cs typeface="Times New Roman" panose="02020603050405020304" pitchFamily="18" charset="0"/>
              </a:rPr>
              <a:t> kampanye berikutnya?</a:t>
            </a:r>
            <a:endParaRPr lang="en-US" sz="16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68BB15E3-775B-19D7-197F-7B2AFC04E4D1}"/>
              </a:ext>
            </a:extLst>
          </p:cNvPr>
          <p:cNvPicPr>
            <a:picLocks noChangeAspect="1"/>
          </p:cNvPicPr>
          <p:nvPr/>
        </p:nvPicPr>
        <p:blipFill>
          <a:blip r:embed="rId2"/>
          <a:stretch>
            <a:fillRect/>
          </a:stretch>
        </p:blipFill>
        <p:spPr>
          <a:xfrm>
            <a:off x="7925614" y="3264929"/>
            <a:ext cx="4266386" cy="3412276"/>
          </a:xfrm>
          <a:prstGeom prst="rect">
            <a:avLst/>
          </a:prstGeom>
        </p:spPr>
      </p:pic>
    </p:spTree>
    <p:extLst>
      <p:ext uri="{BB962C8B-B14F-4D97-AF65-F5344CB8AC3E}">
        <p14:creationId xmlns:p14="http://schemas.microsoft.com/office/powerpoint/2010/main" val="120675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94272" y="297240"/>
            <a:ext cx="8203464" cy="584775"/>
          </a:xfrm>
          <a:prstGeom prst="rect">
            <a:avLst/>
          </a:prstGeom>
          <a:noFill/>
        </p:spPr>
        <p:txBody>
          <a:bodyPr wrap="none">
            <a:spAutoFit/>
          </a:bodyPr>
          <a:lstStyle/>
          <a:p>
            <a:pPr algn="ctr">
              <a:defRPr sz="2400" b="1">
                <a:solidFill>
                  <a:srgbClr val="1F4E79"/>
                </a:solidFill>
              </a:defRPr>
            </a:pPr>
            <a:r>
              <a:rPr lang="pt-BR" sz="3200" dirty="0">
                <a:latin typeface="Times New Roman" panose="02020603050405020304" pitchFamily="18" charset="0"/>
                <a:cs typeface="Times New Roman" panose="02020603050405020304" pitchFamily="18" charset="0"/>
              </a:rPr>
              <a:t>Macro Performance Baseline (H1 vs H2 2025)</a:t>
            </a:r>
            <a:endParaRPr lang="id-ID" sz="3200" dirty="0">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323AF4A4-2FE2-F12F-781F-A0C90B9005A6}"/>
              </a:ext>
            </a:extLst>
          </p:cNvPr>
          <p:cNvSpPr/>
          <p:nvPr/>
        </p:nvSpPr>
        <p:spPr>
          <a:xfrm>
            <a:off x="862788" y="1160979"/>
            <a:ext cx="4510356" cy="115070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d-ID" dirty="0">
                <a:latin typeface="Times New Roman" panose="02020603050405020304" pitchFamily="18" charset="0"/>
                <a:cs typeface="Times New Roman" panose="02020603050405020304" pitchFamily="18" charset="0"/>
              </a:rPr>
              <a:t>Total Reach</a:t>
            </a:r>
            <a:endParaRPr lang="en-US" dirty="0">
              <a:latin typeface="Times New Roman" panose="02020603050405020304" pitchFamily="18" charset="0"/>
              <a:cs typeface="Times New Roman" panose="02020603050405020304" pitchFamily="18" charset="0"/>
            </a:endParaRPr>
          </a:p>
          <a:p>
            <a:pPr algn="ctr"/>
            <a:r>
              <a:rPr lang="id-ID" b="1" dirty="0">
                <a:latin typeface="Times New Roman" panose="02020603050405020304" pitchFamily="18" charset="0"/>
                <a:cs typeface="Times New Roman" panose="02020603050405020304" pitchFamily="18" charset="0"/>
              </a:rPr>
              <a:t>409 Juta</a:t>
            </a:r>
            <a:endParaRPr lang="en-US" b="1" dirty="0">
              <a:latin typeface="Times New Roman" panose="02020603050405020304" pitchFamily="18" charset="0"/>
              <a:cs typeface="Times New Roman" panose="02020603050405020304" pitchFamily="18" charset="0"/>
            </a:endParaRPr>
          </a:p>
          <a:p>
            <a:pPr algn="ctr"/>
            <a:r>
              <a:rPr lang="pt-BR" sz="1600" dirty="0">
                <a:latin typeface="Times New Roman" panose="02020603050405020304" pitchFamily="18" charset="0"/>
                <a:cs typeface="Times New Roman" panose="02020603050405020304" pitchFamily="18" charset="0"/>
              </a:rPr>
              <a:t>H1: 198Jt vs H2: 211Jt | </a:t>
            </a:r>
            <a:r>
              <a:rPr lang="pt-BR" sz="1600" b="1" dirty="0">
                <a:latin typeface="Times New Roman" panose="02020603050405020304" pitchFamily="18" charset="0"/>
                <a:cs typeface="Times New Roman" panose="02020603050405020304" pitchFamily="18" charset="0"/>
              </a:rPr>
              <a:t>Naik +6,5%</a:t>
            </a:r>
            <a:endParaRPr lang="id-ID" sz="1600" dirty="0">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98FD8AAD-EF54-DAB6-1DE9-DF80EA840E5A}"/>
              </a:ext>
            </a:extLst>
          </p:cNvPr>
          <p:cNvSpPr/>
          <p:nvPr/>
        </p:nvSpPr>
        <p:spPr>
          <a:xfrm>
            <a:off x="6818857" y="1158412"/>
            <a:ext cx="4510356" cy="115070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d-ID" dirty="0">
                <a:latin typeface="Times New Roman" panose="02020603050405020304" pitchFamily="18" charset="0"/>
                <a:cs typeface="Times New Roman" panose="02020603050405020304" pitchFamily="18" charset="0"/>
              </a:rPr>
              <a:t>Total Engagement</a:t>
            </a:r>
            <a:endParaRPr lang="en-US" dirty="0">
              <a:latin typeface="Times New Roman" panose="02020603050405020304" pitchFamily="18" charset="0"/>
              <a:cs typeface="Times New Roman" panose="02020603050405020304" pitchFamily="18" charset="0"/>
            </a:endParaRPr>
          </a:p>
          <a:p>
            <a:pPr algn="ctr"/>
            <a:r>
              <a:rPr lang="id-ID" b="1" dirty="0">
                <a:latin typeface="Times New Roman" panose="02020603050405020304" pitchFamily="18" charset="0"/>
                <a:cs typeface="Times New Roman" panose="02020603050405020304" pitchFamily="18" charset="0"/>
              </a:rPr>
              <a:t>37 Juta</a:t>
            </a:r>
            <a:endParaRPr lang="en-US" b="1" dirty="0">
              <a:latin typeface="Times New Roman" panose="02020603050405020304" pitchFamily="18" charset="0"/>
              <a:cs typeface="Times New Roman" panose="02020603050405020304" pitchFamily="18" charset="0"/>
            </a:endParaRPr>
          </a:p>
          <a:p>
            <a:pPr algn="ctr"/>
            <a:r>
              <a:rPr lang="pt-BR" dirty="0">
                <a:latin typeface="Times New Roman" panose="02020603050405020304" pitchFamily="18" charset="0"/>
                <a:cs typeface="Times New Roman" panose="02020603050405020304" pitchFamily="18" charset="0"/>
              </a:rPr>
              <a:t>H1: 18,1Jt vs H2: 18,9Jt | </a:t>
            </a:r>
            <a:r>
              <a:rPr lang="pt-BR" b="1" dirty="0">
                <a:latin typeface="Times New Roman" panose="02020603050405020304" pitchFamily="18" charset="0"/>
                <a:cs typeface="Times New Roman" panose="02020603050405020304" pitchFamily="18" charset="0"/>
              </a:rPr>
              <a:t>Naik +4,4%</a:t>
            </a:r>
            <a:endParaRPr lang="id-ID" b="1"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4975131C-AAC7-C245-2CC8-8B80ACF983B7}"/>
              </a:ext>
            </a:extLst>
          </p:cNvPr>
          <p:cNvSpPr/>
          <p:nvPr/>
        </p:nvSpPr>
        <p:spPr>
          <a:xfrm>
            <a:off x="862787" y="2818543"/>
            <a:ext cx="4510356" cy="115070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d-ID" dirty="0">
                <a:latin typeface="Times New Roman" panose="02020603050405020304" pitchFamily="18" charset="0"/>
                <a:cs typeface="Times New Roman" panose="02020603050405020304" pitchFamily="18" charset="0"/>
              </a:rPr>
              <a:t>Total Clicks</a:t>
            </a:r>
            <a:endParaRPr lang="en-US" dirty="0">
              <a:latin typeface="Times New Roman" panose="02020603050405020304" pitchFamily="18" charset="0"/>
              <a:cs typeface="Times New Roman" panose="02020603050405020304" pitchFamily="18" charset="0"/>
            </a:endParaRPr>
          </a:p>
          <a:p>
            <a:pPr algn="ctr"/>
            <a:r>
              <a:rPr lang="id-ID" b="1" dirty="0">
                <a:latin typeface="Times New Roman" panose="02020603050405020304" pitchFamily="18" charset="0"/>
                <a:cs typeface="Times New Roman" panose="02020603050405020304" pitchFamily="18" charset="0"/>
              </a:rPr>
              <a:t>823 Ribu</a:t>
            </a:r>
            <a:endParaRPr lang="en-US" b="1" dirty="0">
              <a:latin typeface="Times New Roman" panose="02020603050405020304" pitchFamily="18" charset="0"/>
              <a:cs typeface="Times New Roman" panose="02020603050405020304" pitchFamily="18" charset="0"/>
            </a:endParaRPr>
          </a:p>
          <a:p>
            <a:pPr algn="ctr"/>
            <a:r>
              <a:rPr lang="pt-BR" dirty="0">
                <a:latin typeface="Times New Roman" panose="02020603050405020304" pitchFamily="18" charset="0"/>
                <a:cs typeface="Times New Roman" panose="02020603050405020304" pitchFamily="18" charset="0"/>
              </a:rPr>
              <a:t>H1: 402Rb vs H2: 421Rb | </a:t>
            </a:r>
            <a:r>
              <a:rPr lang="pt-BR" b="1" dirty="0">
                <a:latin typeface="Times New Roman" panose="02020603050405020304" pitchFamily="18" charset="0"/>
                <a:cs typeface="Times New Roman" panose="02020603050405020304" pitchFamily="18" charset="0"/>
              </a:rPr>
              <a:t>Naik +4,7%</a:t>
            </a:r>
            <a:endParaRPr lang="id-ID" b="1" dirty="0">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B896B5E4-5CC0-8989-3A66-8BDD43472F2C}"/>
              </a:ext>
            </a:extLst>
          </p:cNvPr>
          <p:cNvSpPr/>
          <p:nvPr/>
        </p:nvSpPr>
        <p:spPr>
          <a:xfrm>
            <a:off x="6818857" y="2818544"/>
            <a:ext cx="4510356" cy="115070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d-ID" dirty="0">
                <a:latin typeface="Times New Roman" panose="02020603050405020304" pitchFamily="18" charset="0"/>
                <a:cs typeface="Times New Roman" panose="02020603050405020304" pitchFamily="18" charset="0"/>
              </a:rPr>
              <a:t>Avg E</a:t>
            </a:r>
            <a:r>
              <a:rPr lang="en-US" dirty="0" err="1">
                <a:latin typeface="Times New Roman" panose="02020603050405020304" pitchFamily="18" charset="0"/>
                <a:cs typeface="Times New Roman" panose="02020603050405020304" pitchFamily="18" charset="0"/>
              </a:rPr>
              <a:t>ngagement</a:t>
            </a:r>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ate</a:t>
            </a:r>
          </a:p>
          <a:p>
            <a:pPr algn="ctr"/>
            <a:r>
              <a:rPr lang="pt-BR" b="1" dirty="0">
                <a:latin typeface="Times New Roman" panose="02020603050405020304" pitchFamily="18" charset="0"/>
                <a:cs typeface="Times New Roman" panose="02020603050405020304" pitchFamily="18" charset="0"/>
              </a:rPr>
              <a:t>8,01%</a:t>
            </a:r>
          </a:p>
          <a:p>
            <a:pPr algn="ctr"/>
            <a:r>
              <a:rPr lang="pt-BR" dirty="0">
                <a:latin typeface="Times New Roman" panose="02020603050405020304" pitchFamily="18" charset="0"/>
                <a:cs typeface="Times New Roman" panose="02020603050405020304" pitchFamily="18" charset="0"/>
              </a:rPr>
              <a:t>H1: 8,02% vs H2: 8,00% | </a:t>
            </a:r>
            <a:r>
              <a:rPr lang="pt-BR" b="1" dirty="0">
                <a:latin typeface="Times New Roman" panose="02020603050405020304" pitchFamily="18" charset="0"/>
                <a:cs typeface="Times New Roman" panose="02020603050405020304" pitchFamily="18" charset="0"/>
              </a:rPr>
              <a:t>Stabil</a:t>
            </a:r>
            <a:endParaRPr lang="id-ID" b="1" dirty="0">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F3555217-56E3-BB8A-BD6C-761C28ECE228}"/>
              </a:ext>
            </a:extLst>
          </p:cNvPr>
          <p:cNvSpPr/>
          <p:nvPr/>
        </p:nvSpPr>
        <p:spPr>
          <a:xfrm>
            <a:off x="862787" y="4164459"/>
            <a:ext cx="10466425" cy="250347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just"/>
            <a:r>
              <a:rPr lang="id-ID" sz="1600" dirty="0">
                <a:latin typeface="Times New Roman" panose="02020603050405020304" pitchFamily="18" charset="0"/>
                <a:cs typeface="Times New Roman" panose="02020603050405020304" pitchFamily="18" charset="0"/>
              </a:rPr>
              <a:t>Key Takeaways (H1 vs H2 Performance):</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id-ID" sz="1600" dirty="0">
                <a:latin typeface="Times New Roman" panose="02020603050405020304" pitchFamily="18" charset="0"/>
                <a:cs typeface="Times New Roman" panose="02020603050405020304" pitchFamily="18" charset="0"/>
              </a:rPr>
              <a:t>Positive Growth Across All Funnels: Terjadi peningkatan performa yang konsisten di Semester 2, didorong oleh kenaikan </a:t>
            </a:r>
            <a:r>
              <a:rPr lang="id-ID" sz="1600" b="1" dirty="0">
                <a:latin typeface="Times New Roman" panose="02020603050405020304" pitchFamily="18" charset="0"/>
                <a:cs typeface="Times New Roman" panose="02020603050405020304" pitchFamily="18" charset="0"/>
              </a:rPr>
              <a:t>Reach (+6,5%), Engagement (+4,4%), dan Clicks (+4,7%).</a:t>
            </a:r>
            <a:endParaRPr lang="en-US" sz="1600" b="1"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id-ID" sz="1600" dirty="0">
                <a:latin typeface="Times New Roman" panose="02020603050405020304" pitchFamily="18" charset="0"/>
                <a:cs typeface="Times New Roman" panose="02020603050405020304" pitchFamily="18" charset="0"/>
              </a:rPr>
              <a:t>Quality Index Stabil: Meskipun volume konten meningkat di H2, Avg. Engagement Rate relatif stabil di angka </a:t>
            </a:r>
            <a:r>
              <a:rPr lang="id-ID" sz="1600" b="1" dirty="0">
                <a:latin typeface="Times New Roman" panose="02020603050405020304" pitchFamily="18" charset="0"/>
                <a:cs typeface="Times New Roman" panose="02020603050405020304" pitchFamily="18" charset="0"/>
              </a:rPr>
              <a:t>~8,00%</a:t>
            </a:r>
            <a:r>
              <a:rPr lang="id-ID" sz="1600" dirty="0">
                <a:latin typeface="Times New Roman" panose="02020603050405020304" pitchFamily="18" charset="0"/>
                <a:cs typeface="Times New Roman" panose="02020603050405020304" pitchFamily="18" charset="0"/>
              </a:rPr>
              <a:t>, menunjukkan relevansi pesan pemasaran tetap terjaga.</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id-ID" sz="1600" dirty="0">
                <a:latin typeface="Times New Roman" panose="02020603050405020304" pitchFamily="18" charset="0"/>
                <a:cs typeface="Times New Roman" panose="02020603050405020304" pitchFamily="18" charset="0"/>
              </a:rPr>
              <a:t>Operational Volatility Note: Meskipun pertumbuhan agregat H2 positif, terdapat fluktuasi bulanan tajam pada periode tertentu (seperti drop di April &amp; November serta peak di Mei) yang memerlukan analisis lebih mendalam di tingkat kanal &amp; jenis konten.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20343" y="297240"/>
            <a:ext cx="3751348" cy="584775"/>
          </a:xfrm>
          <a:prstGeom prst="rect">
            <a:avLst/>
          </a:prstGeom>
          <a:noFill/>
        </p:spPr>
        <p:txBody>
          <a:bodyPr wrap="none">
            <a:spAutoFit/>
          </a:bodyPr>
          <a:lstStyle/>
          <a:p>
            <a:pPr algn="ctr">
              <a:defRPr sz="2400" b="1">
                <a:solidFill>
                  <a:srgbClr val="1F4E79"/>
                </a:solidFill>
              </a:defRPr>
            </a:pPr>
            <a:r>
              <a:rPr lang="en-US" sz="3200" dirty="0">
                <a:latin typeface="Times New Roman" panose="02020603050405020304" pitchFamily="18" charset="0"/>
                <a:cs typeface="Times New Roman" panose="02020603050405020304" pitchFamily="18" charset="0"/>
              </a:rPr>
              <a:t>Data Understanding</a:t>
            </a:r>
            <a:endParaRPr sz="32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26F30EE2-3E6C-D8C9-14BA-0FD0EE832B90}"/>
              </a:ext>
            </a:extLst>
          </p:cNvPr>
          <p:cNvSpPr txBox="1"/>
          <p:nvPr/>
        </p:nvSpPr>
        <p:spPr>
          <a:xfrm>
            <a:off x="107075" y="755807"/>
            <a:ext cx="11834012" cy="830997"/>
          </a:xfrm>
          <a:prstGeom prst="rect">
            <a:avLst/>
          </a:prstGeom>
          <a:noFill/>
        </p:spPr>
        <p:txBody>
          <a:bodyPr wrap="square">
            <a:spAutoFit/>
          </a:bodyPr>
          <a:lstStyle/>
          <a:p>
            <a:r>
              <a:rPr lang="id-ID" sz="1600" dirty="0">
                <a:latin typeface="Times New Roman" panose="02020603050405020304" pitchFamily="18" charset="0"/>
                <a:cs typeface="Times New Roman" panose="02020603050405020304" pitchFamily="18" charset="0"/>
              </a:rPr>
              <a:t>Berdasarkan audit kualitas data (data quality audit) pada dataset operasional kampanye awal, ditemukan beberapa anomali minor seperti missing values dan duplikasi data yang harus ditangani terlebih dahulu agar hasil analisis prediktif dan deskriptif tidak mengalami bias.</a:t>
            </a:r>
            <a:r>
              <a:rPr lang="en-US" sz="1600" dirty="0">
                <a:latin typeface="Times New Roman" panose="02020603050405020304" pitchFamily="18" charset="0"/>
                <a:cs typeface="Times New Roman" panose="02020603050405020304" pitchFamily="18" charset="0"/>
              </a:rPr>
              <a:t> Berikut </a:t>
            </a:r>
            <a:r>
              <a:rPr lang="en-US" sz="1600" dirty="0" err="1">
                <a:latin typeface="Times New Roman" panose="02020603050405020304" pitchFamily="18" charset="0"/>
                <a:cs typeface="Times New Roman" panose="02020603050405020304" pitchFamily="18" charset="0"/>
              </a:rPr>
              <a:t>ringkasan</a:t>
            </a:r>
            <a:r>
              <a:rPr lang="en-US" sz="1600" dirty="0">
                <a:latin typeface="Times New Roman" panose="02020603050405020304" pitchFamily="18" charset="0"/>
                <a:cs typeface="Times New Roman" panose="02020603050405020304" pitchFamily="18" charset="0"/>
              </a:rPr>
              <a:t> data </a:t>
            </a:r>
            <a:r>
              <a:rPr lang="en-US" sz="1600" dirty="0" err="1">
                <a:latin typeface="Times New Roman" panose="02020603050405020304" pitchFamily="18" charset="0"/>
                <a:cs typeface="Times New Roman" panose="02020603050405020304" pitchFamily="18" charset="0"/>
              </a:rPr>
              <a:t>terkait</a:t>
            </a:r>
            <a:endParaRPr lang="en-US" sz="1600" dirty="0">
              <a:latin typeface="Times New Roman" panose="02020603050405020304" pitchFamily="18" charset="0"/>
              <a:cs typeface="Times New Roman" panose="02020603050405020304" pitchFamily="18" charset="0"/>
            </a:endParaRPr>
          </a:p>
        </p:txBody>
      </p:sp>
      <p:graphicFrame>
        <p:nvGraphicFramePr>
          <p:cNvPr id="38" name="Table 38">
            <a:extLst>
              <a:ext uri="{FF2B5EF4-FFF2-40B4-BE49-F238E27FC236}">
                <a16:creationId xmlns:a16="http://schemas.microsoft.com/office/drawing/2014/main" id="{8E0A23A1-B25C-D539-4023-824D90EC520D}"/>
              </a:ext>
            </a:extLst>
          </p:cNvPr>
          <p:cNvGraphicFramePr>
            <a:graphicFrameLocks noGrp="1"/>
          </p:cNvGraphicFramePr>
          <p:nvPr>
            <p:extLst>
              <p:ext uri="{D42A27DB-BD31-4B8C-83A1-F6EECF244321}">
                <p14:modId xmlns:p14="http://schemas.microsoft.com/office/powerpoint/2010/main" val="1016834304"/>
              </p:ext>
            </p:extLst>
          </p:nvPr>
        </p:nvGraphicFramePr>
        <p:xfrm>
          <a:off x="1243172" y="1766115"/>
          <a:ext cx="9705654" cy="2926080"/>
        </p:xfrm>
        <a:graphic>
          <a:graphicData uri="http://schemas.openxmlformats.org/drawingml/2006/table">
            <a:tbl>
              <a:tblPr firstRow="1" bandRow="1">
                <a:tableStyleId>{5C22544A-7EE6-4342-B048-85BDC9FD1C3A}</a:tableStyleId>
              </a:tblPr>
              <a:tblGrid>
                <a:gridCol w="2963672">
                  <a:extLst>
                    <a:ext uri="{9D8B030D-6E8A-4147-A177-3AD203B41FA5}">
                      <a16:colId xmlns:a16="http://schemas.microsoft.com/office/drawing/2014/main" val="2001243944"/>
                    </a:ext>
                  </a:extLst>
                </a:gridCol>
                <a:gridCol w="6741982">
                  <a:extLst>
                    <a:ext uri="{9D8B030D-6E8A-4147-A177-3AD203B41FA5}">
                      <a16:colId xmlns:a16="http://schemas.microsoft.com/office/drawing/2014/main" val="683540893"/>
                    </a:ext>
                  </a:extLst>
                </a:gridCol>
              </a:tblGrid>
              <a:tr h="257736">
                <a:tc>
                  <a:txBody>
                    <a:bodyPr/>
                    <a:lstStyle/>
                    <a:p>
                      <a:r>
                        <a:rPr lang="id-ID" sz="1800" dirty="0">
                          <a:latin typeface="Times New Roman" panose="02020603050405020304" pitchFamily="18" charset="0"/>
                          <a:cs typeface="Times New Roman" panose="02020603050405020304" pitchFamily="18" charset="0"/>
                        </a:rPr>
                        <a:t>Informasi Dataset</a:t>
                      </a:r>
                    </a:p>
                  </a:txBody>
                  <a:tcPr/>
                </a:tc>
                <a:tc>
                  <a:txBody>
                    <a:bodyPr/>
                    <a:lstStyle/>
                    <a:p>
                      <a:r>
                        <a:rPr lang="id-ID" sz="1800" dirty="0">
                          <a:latin typeface="Times New Roman" panose="02020603050405020304" pitchFamily="18" charset="0"/>
                          <a:cs typeface="Times New Roman" panose="02020603050405020304" pitchFamily="18" charset="0"/>
                        </a:rPr>
                        <a:t>Keterangan</a:t>
                      </a:r>
                    </a:p>
                  </a:txBody>
                  <a:tcPr/>
                </a:tc>
                <a:extLst>
                  <a:ext uri="{0D108BD9-81ED-4DB2-BD59-A6C34878D82A}">
                    <a16:rowId xmlns:a16="http://schemas.microsoft.com/office/drawing/2014/main" val="349490622"/>
                  </a:ext>
                </a:extLst>
              </a:tr>
              <a:tr h="257736">
                <a:tc>
                  <a:txBody>
                    <a:bodyPr/>
                    <a:lstStyle/>
                    <a:p>
                      <a:r>
                        <a:rPr lang="id-ID" sz="1800" dirty="0">
                          <a:latin typeface="Times New Roman" panose="02020603050405020304" pitchFamily="18" charset="0"/>
                          <a:cs typeface="Times New Roman" panose="02020603050405020304" pitchFamily="18" charset="0"/>
                        </a:rPr>
                        <a:t>Nama Dataset Awal</a:t>
                      </a:r>
                    </a:p>
                  </a:txBody>
                  <a:tcPr/>
                </a:tc>
                <a:tc>
                  <a:txBody>
                    <a:bodyPr/>
                    <a:lstStyle/>
                    <a:p>
                      <a:r>
                        <a:rPr lang="en-US" sz="1800" dirty="0">
                          <a:latin typeface="Times New Roman" panose="02020603050405020304" pitchFamily="18" charset="0"/>
                          <a:cs typeface="Times New Roman" panose="02020603050405020304" pitchFamily="18" charset="0"/>
                        </a:rPr>
                        <a:t>Dummy_Dataset_Final_Project_Marketing_Channel_Analysis.xlsx</a:t>
                      </a:r>
                      <a:endParaRPr lang="id-ID"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4352939"/>
                  </a:ext>
                </a:extLst>
              </a:tr>
              <a:tr h="257736">
                <a:tc>
                  <a:txBody>
                    <a:bodyPr/>
                    <a:lstStyle/>
                    <a:p>
                      <a:r>
                        <a:rPr lang="id-ID" sz="1800" dirty="0">
                          <a:latin typeface="Times New Roman" panose="02020603050405020304" pitchFamily="18" charset="0"/>
                          <a:cs typeface="Times New Roman" panose="02020603050405020304" pitchFamily="18" charset="0"/>
                        </a:rPr>
                        <a:t>Periode Data</a:t>
                      </a:r>
                    </a:p>
                  </a:txBody>
                  <a:tcPr/>
                </a:tc>
                <a:tc>
                  <a:txBody>
                    <a:bodyPr/>
                    <a:lstStyle/>
                    <a:p>
                      <a:r>
                        <a:rPr lang="id-ID" sz="1800" dirty="0">
                          <a:latin typeface="Times New Roman" panose="02020603050405020304" pitchFamily="18" charset="0"/>
                          <a:cs typeface="Times New Roman" panose="02020603050405020304" pitchFamily="18" charset="0"/>
                        </a:rPr>
                        <a:t>Januari – Desember 2025</a:t>
                      </a:r>
                    </a:p>
                  </a:txBody>
                  <a:tcPr/>
                </a:tc>
                <a:extLst>
                  <a:ext uri="{0D108BD9-81ED-4DB2-BD59-A6C34878D82A}">
                    <a16:rowId xmlns:a16="http://schemas.microsoft.com/office/drawing/2014/main" val="4126807937"/>
                  </a:ext>
                </a:extLst>
              </a:tr>
              <a:tr h="257736">
                <a:tc>
                  <a:txBody>
                    <a:bodyPr/>
                    <a:lstStyle/>
                    <a:p>
                      <a:r>
                        <a:rPr lang="id-ID" sz="1800" dirty="0">
                          <a:latin typeface="Times New Roman" panose="02020603050405020304" pitchFamily="18" charset="0"/>
                          <a:cs typeface="Times New Roman" panose="02020603050405020304" pitchFamily="18" charset="0"/>
                        </a:rPr>
                        <a:t>Jumlah Record Awal</a:t>
                      </a:r>
                    </a:p>
                  </a:txBody>
                  <a:tcPr/>
                </a:tc>
                <a:tc>
                  <a:txBody>
                    <a:bodyPr/>
                    <a:lstStyle/>
                    <a:p>
                      <a:r>
                        <a:rPr lang="id-ID" sz="1800" dirty="0">
                          <a:latin typeface="Times New Roman" panose="02020603050405020304" pitchFamily="18" charset="0"/>
                          <a:cs typeface="Times New Roman" panose="02020603050405020304" pitchFamily="18" charset="0"/>
                        </a:rPr>
                        <a:t>1.002 baris</a:t>
                      </a:r>
                    </a:p>
                  </a:txBody>
                  <a:tcPr/>
                </a:tc>
                <a:extLst>
                  <a:ext uri="{0D108BD9-81ED-4DB2-BD59-A6C34878D82A}">
                    <a16:rowId xmlns:a16="http://schemas.microsoft.com/office/drawing/2014/main" val="935825473"/>
                  </a:ext>
                </a:extLst>
              </a:tr>
              <a:tr h="257736">
                <a:tc>
                  <a:txBody>
                    <a:bodyPr/>
                    <a:lstStyle/>
                    <a:p>
                      <a:r>
                        <a:rPr lang="id-ID" sz="1800" dirty="0">
                          <a:latin typeface="Times New Roman" panose="02020603050405020304" pitchFamily="18" charset="0"/>
                          <a:cs typeface="Times New Roman" panose="02020603050405020304" pitchFamily="18" charset="0"/>
                        </a:rPr>
                        <a:t>Jumlah Variabel</a:t>
                      </a:r>
                    </a:p>
                  </a:txBody>
                  <a:tcPr/>
                </a:tc>
                <a:tc>
                  <a:txBody>
                    <a:bodyPr/>
                    <a:lstStyle/>
                    <a:p>
                      <a:r>
                        <a:rPr lang="id-ID" sz="18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7</a:t>
                      </a:r>
                      <a:r>
                        <a:rPr lang="id-ID" sz="1800" dirty="0">
                          <a:latin typeface="Times New Roman" panose="02020603050405020304" pitchFamily="18" charset="0"/>
                          <a:cs typeface="Times New Roman" panose="02020603050405020304" pitchFamily="18" charset="0"/>
                        </a:rPr>
                        <a:t> kolom</a:t>
                      </a:r>
                    </a:p>
                  </a:txBody>
                  <a:tcPr/>
                </a:tc>
                <a:extLst>
                  <a:ext uri="{0D108BD9-81ED-4DB2-BD59-A6C34878D82A}">
                    <a16:rowId xmlns:a16="http://schemas.microsoft.com/office/drawing/2014/main" val="970393153"/>
                  </a:ext>
                </a:extLst>
              </a:tr>
              <a:tr h="140885">
                <a:tc>
                  <a:txBody>
                    <a:bodyPr/>
                    <a:lstStyle/>
                    <a:p>
                      <a:r>
                        <a:rPr lang="id-ID" sz="1800" dirty="0">
                          <a:latin typeface="Times New Roman" panose="02020603050405020304" pitchFamily="18" charset="0"/>
                          <a:cs typeface="Times New Roman" panose="02020603050405020304" pitchFamily="18" charset="0"/>
                        </a:rPr>
                        <a:t>Platform</a:t>
                      </a:r>
                    </a:p>
                  </a:txBody>
                  <a:tcPr/>
                </a:tc>
                <a:tc>
                  <a:txBody>
                    <a:bodyPr/>
                    <a:lstStyle/>
                    <a:p>
                      <a:r>
                        <a:rPr lang="en-US" sz="1800" dirty="0">
                          <a:latin typeface="Times New Roman" panose="02020603050405020304" pitchFamily="18" charset="0"/>
                          <a:cs typeface="Times New Roman" panose="02020603050405020304" pitchFamily="18" charset="0"/>
                        </a:rPr>
                        <a:t>Instagram, Facebook, TikTok, X (Twitter), YouTube</a:t>
                      </a:r>
                      <a:endParaRPr lang="id-ID"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3498314"/>
                  </a:ext>
                </a:extLst>
              </a:tr>
              <a:tr h="140885">
                <a:tc>
                  <a:txBody>
                    <a:bodyPr/>
                    <a:lstStyle/>
                    <a:p>
                      <a:r>
                        <a:rPr lang="en-US" sz="1800" dirty="0">
                          <a:latin typeface="Times New Roman" panose="02020603050405020304" pitchFamily="18" charset="0"/>
                          <a:cs typeface="Times New Roman" panose="02020603050405020304" pitchFamily="18" charset="0"/>
                        </a:rPr>
                        <a:t>Missing Values</a:t>
                      </a:r>
                      <a:endParaRPr lang="id-ID"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2 </a:t>
                      </a:r>
                      <a:r>
                        <a:rPr lang="en-US" sz="1800" dirty="0" err="1">
                          <a:latin typeface="Times New Roman" panose="02020603050405020304" pitchFamily="18" charset="0"/>
                          <a:cs typeface="Times New Roman" panose="02020603050405020304" pitchFamily="18" charset="0"/>
                        </a:rPr>
                        <a:t>kolom</a:t>
                      </a:r>
                      <a:r>
                        <a:rPr lang="en-US" sz="1800" dirty="0">
                          <a:latin typeface="Times New Roman" panose="02020603050405020304" pitchFamily="18" charset="0"/>
                          <a:cs typeface="Times New Roman" panose="02020603050405020304" pitchFamily="18" charset="0"/>
                        </a:rPr>
                        <a:t> Reach &amp; 2 </a:t>
                      </a:r>
                      <a:r>
                        <a:rPr lang="en-US" sz="1800" dirty="0" err="1">
                          <a:latin typeface="Times New Roman" panose="02020603050405020304" pitchFamily="18" charset="0"/>
                          <a:cs typeface="Times New Roman" panose="02020603050405020304" pitchFamily="18" charset="0"/>
                        </a:rPr>
                        <a:t>kolom</a:t>
                      </a:r>
                      <a:r>
                        <a:rPr lang="en-US" sz="1800" dirty="0">
                          <a:latin typeface="Times New Roman" panose="02020603050405020304" pitchFamily="18" charset="0"/>
                          <a:cs typeface="Times New Roman" panose="02020603050405020304" pitchFamily="18" charset="0"/>
                        </a:rPr>
                        <a:t> Comments</a:t>
                      </a:r>
                      <a:endParaRPr lang="id-ID"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06472616"/>
                  </a:ext>
                </a:extLst>
              </a:tr>
              <a:tr h="140885">
                <a:tc>
                  <a:txBody>
                    <a:bodyPr/>
                    <a:lstStyle/>
                    <a:p>
                      <a:r>
                        <a:rPr lang="en-US" sz="1800" dirty="0">
                          <a:latin typeface="Times New Roman" panose="02020603050405020304" pitchFamily="18" charset="0"/>
                          <a:cs typeface="Times New Roman" panose="02020603050405020304" pitchFamily="18" charset="0"/>
                        </a:rPr>
                        <a:t>Duplicate Records</a:t>
                      </a:r>
                      <a:endParaRPr lang="id-ID"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2 rows</a:t>
                      </a:r>
                      <a:endParaRPr lang="id-ID"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3640423"/>
                  </a:ext>
                </a:extLst>
              </a:tr>
            </a:tbl>
          </a:graphicData>
        </a:graphic>
      </p:graphicFrame>
      <p:sp>
        <p:nvSpPr>
          <p:cNvPr id="46" name="Rectangle 4">
            <a:extLst>
              <a:ext uri="{FF2B5EF4-FFF2-40B4-BE49-F238E27FC236}">
                <a16:creationId xmlns:a16="http://schemas.microsoft.com/office/drawing/2014/main" id="{A61737E2-8E16-7B55-6873-3450F4F30987}"/>
              </a:ext>
            </a:extLst>
          </p:cNvPr>
          <p:cNvSpPr>
            <a:spLocks noChangeArrowheads="1"/>
          </p:cNvSpPr>
          <p:nvPr/>
        </p:nvSpPr>
        <p:spPr bwMode="auto">
          <a:xfrm>
            <a:off x="178994" y="4979228"/>
            <a:ext cx="11834011" cy="176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Pada tahap </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Identifikasi Permasalahan Data (</a:t>
            </a:r>
            <a:r>
              <a:rPr kumimoji="0" lang="id-ID" altLang="id-ID" sz="16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Quality Assessment</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pengecekan kualitas data mentah dilakukan dengan Python Pandas. Berikut ringkasan penanganan data (</a:t>
            </a:r>
            <a:r>
              <a:rPr kumimoji="0" lang="id-ID" altLang="id-ID"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cleaning</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yang dilakukan: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Penanganan Nilai Kosong (</a:t>
            </a:r>
            <a:r>
              <a:rPr kumimoji="0" lang="id-ID" altLang="id-ID" sz="16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Values</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Terdapat 2 nilai kosong pada kolom </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Reach</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dan 2 nilai kosong pada kolom </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Comments</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yang masing-masing diimputasi menggunakan nilai median.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Pembersihan Duplikasi:</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Ditemukan 2 baris data duplikat yang kemudian dihapus menggunakan metode drop_duplicates().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Penyesuaian Format &amp; Variabel:</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Tipe data kolom tanggal yang semula berupa </a:t>
            </a:r>
            <a:r>
              <a:rPr kumimoji="0" lang="id-ID" altLang="id-ID"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string</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dikonversi menjadi datetime. Selain itu, dibuat kolom baru yaitu Month dan Month_Number untuk memfasilitasi analisis berbasis bulan.</a:t>
            </a:r>
          </a:p>
        </p:txBody>
      </p:sp>
    </p:spTree>
    <p:extLst>
      <p:ext uri="{BB962C8B-B14F-4D97-AF65-F5344CB8AC3E}">
        <p14:creationId xmlns:p14="http://schemas.microsoft.com/office/powerpoint/2010/main" val="3253612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0574" y="297240"/>
            <a:ext cx="4890891" cy="584775"/>
          </a:xfrm>
          <a:prstGeom prst="rect">
            <a:avLst/>
          </a:prstGeom>
          <a:noFill/>
        </p:spPr>
        <p:txBody>
          <a:bodyPr wrap="none">
            <a:spAutoFit/>
          </a:bodyPr>
          <a:lstStyle/>
          <a:p>
            <a:pPr algn="ctr">
              <a:defRPr sz="2400" b="1">
                <a:solidFill>
                  <a:srgbClr val="1F4E79"/>
                </a:solidFill>
              </a:defRPr>
            </a:pPr>
            <a:r>
              <a:rPr lang="en-US" sz="3200" dirty="0">
                <a:latin typeface="Times New Roman" panose="02020603050405020304" pitchFamily="18" charset="0"/>
                <a:cs typeface="Times New Roman" panose="02020603050405020304" pitchFamily="18" charset="0"/>
              </a:rPr>
              <a:t>Data Understanding - Alur</a:t>
            </a:r>
            <a:endParaRPr sz="3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7B75F07-42FB-25EA-E9C1-A06987FDF26A}"/>
              </a:ext>
            </a:extLst>
          </p:cNvPr>
          <p:cNvPicPr>
            <a:picLocks noChangeAspect="1"/>
          </p:cNvPicPr>
          <p:nvPr/>
        </p:nvPicPr>
        <p:blipFill>
          <a:blip r:embed="rId2"/>
          <a:stretch>
            <a:fillRect/>
          </a:stretch>
        </p:blipFill>
        <p:spPr>
          <a:xfrm>
            <a:off x="2190097" y="882015"/>
            <a:ext cx="7811805" cy="5902503"/>
          </a:xfrm>
          <a:prstGeom prst="rect">
            <a:avLst/>
          </a:prstGeom>
        </p:spPr>
      </p:pic>
    </p:spTree>
    <p:extLst>
      <p:ext uri="{BB962C8B-B14F-4D97-AF65-F5344CB8AC3E}">
        <p14:creationId xmlns:p14="http://schemas.microsoft.com/office/powerpoint/2010/main" val="3778324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89767" y="297240"/>
            <a:ext cx="6612516" cy="584775"/>
          </a:xfrm>
          <a:prstGeom prst="rect">
            <a:avLst/>
          </a:prstGeom>
          <a:noFill/>
        </p:spPr>
        <p:txBody>
          <a:bodyPr wrap="none">
            <a:spAutoFit/>
          </a:bodyPr>
          <a:lstStyle/>
          <a:p>
            <a:pPr algn="ctr">
              <a:defRPr sz="2400" b="1">
                <a:solidFill>
                  <a:srgbClr val="1F4E79"/>
                </a:solidFill>
              </a:defRPr>
            </a:pPr>
            <a:r>
              <a:rPr lang="en-US" sz="3200" dirty="0">
                <a:latin typeface="Times New Roman" panose="02020603050405020304" pitchFamily="18" charset="0"/>
                <a:cs typeface="Times New Roman" panose="02020603050405020304" pitchFamily="18" charset="0"/>
              </a:rPr>
              <a:t>Data Understanding – Dataset Akhir</a:t>
            </a:r>
            <a:endParaRPr sz="3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EAAB69E-1904-C3F7-CF33-8DDF490F7D27}"/>
              </a:ext>
            </a:extLst>
          </p:cNvPr>
          <p:cNvSpPr txBox="1"/>
          <p:nvPr/>
        </p:nvSpPr>
        <p:spPr>
          <a:xfrm>
            <a:off x="241014" y="1066949"/>
            <a:ext cx="11709972" cy="830997"/>
          </a:xfrm>
          <a:prstGeom prst="rect">
            <a:avLst/>
          </a:prstGeom>
          <a:noFill/>
        </p:spPr>
        <p:txBody>
          <a:bodyPr wrap="square">
            <a:spAutoFit/>
          </a:bodyPr>
          <a:lstStyle/>
          <a:p>
            <a:r>
              <a:rPr lang="id-ID" sz="1600" dirty="0">
                <a:latin typeface="Times New Roman" panose="02020603050405020304" pitchFamily="18" charset="0"/>
                <a:cs typeface="Times New Roman" panose="02020603050405020304" pitchFamily="18" charset="0"/>
              </a:rPr>
              <a:t>Setelah proses preprocessing selesai, dataset berhasil dibersihkan dari missing values dan duplicate records, serta dilakukan transformasi variabel agar siap digunakan untuk Exploratory Data Analysis (EDA) dan pembangunan dashboard Power BI. Dataset akhir memiliki </a:t>
            </a:r>
            <a:r>
              <a:rPr lang="id-ID" sz="1600" b="1" dirty="0">
                <a:latin typeface="Times New Roman" panose="02020603050405020304" pitchFamily="18" charset="0"/>
                <a:cs typeface="Times New Roman" panose="02020603050405020304" pitchFamily="18" charset="0"/>
              </a:rPr>
              <a:t>1.000 record</a:t>
            </a:r>
            <a:r>
              <a:rPr lang="id-ID" sz="1600" dirty="0">
                <a:latin typeface="Times New Roman" panose="02020603050405020304" pitchFamily="18" charset="0"/>
                <a:cs typeface="Times New Roman" panose="02020603050405020304" pitchFamily="18" charset="0"/>
              </a:rPr>
              <a:t> dengan kualitas data yang telah memenuhi kebutuhan analisis.</a:t>
            </a:r>
            <a:r>
              <a:rPr lang="en-US" sz="1600" dirty="0">
                <a:latin typeface="Times New Roman" panose="02020603050405020304" pitchFamily="18" charset="0"/>
                <a:cs typeface="Times New Roman" panose="02020603050405020304" pitchFamily="18" charset="0"/>
              </a:rPr>
              <a:t> Berikut </a:t>
            </a:r>
            <a:r>
              <a:rPr lang="en-US" sz="1600" dirty="0" err="1">
                <a:latin typeface="Times New Roman" panose="02020603050405020304" pitchFamily="18" charset="0"/>
                <a:cs typeface="Times New Roman" panose="02020603050405020304" pitchFamily="18" charset="0"/>
              </a:rPr>
              <a:t>ringkasan</a:t>
            </a:r>
            <a:r>
              <a:rPr lang="en-US" sz="1600" dirty="0">
                <a:latin typeface="Times New Roman" panose="02020603050405020304" pitchFamily="18" charset="0"/>
                <a:cs typeface="Times New Roman" panose="02020603050405020304" pitchFamily="18" charset="0"/>
              </a:rPr>
              <a:t> dataset </a:t>
            </a:r>
            <a:r>
              <a:rPr lang="en-US" sz="1600" dirty="0" err="1">
                <a:latin typeface="Times New Roman" panose="02020603050405020304" pitchFamily="18" charset="0"/>
                <a:cs typeface="Times New Roman" panose="02020603050405020304" pitchFamily="18" charset="0"/>
              </a:rPr>
              <a:t>setelah</a:t>
            </a:r>
            <a:r>
              <a:rPr lang="en-US" sz="1600" dirty="0">
                <a:latin typeface="Times New Roman" panose="02020603050405020304" pitchFamily="18" charset="0"/>
                <a:cs typeface="Times New Roman" panose="02020603050405020304" pitchFamily="18" charset="0"/>
              </a:rPr>
              <a:t> proses cleaning:</a:t>
            </a:r>
          </a:p>
        </p:txBody>
      </p:sp>
      <p:graphicFrame>
        <p:nvGraphicFramePr>
          <p:cNvPr id="6" name="Table 38">
            <a:extLst>
              <a:ext uri="{FF2B5EF4-FFF2-40B4-BE49-F238E27FC236}">
                <a16:creationId xmlns:a16="http://schemas.microsoft.com/office/drawing/2014/main" id="{8F14D2A7-3906-9A43-7329-EDDD516E5388}"/>
              </a:ext>
            </a:extLst>
          </p:cNvPr>
          <p:cNvGraphicFramePr>
            <a:graphicFrameLocks noGrp="1"/>
          </p:cNvGraphicFramePr>
          <p:nvPr>
            <p:extLst>
              <p:ext uri="{D42A27DB-BD31-4B8C-83A1-F6EECF244321}">
                <p14:modId xmlns:p14="http://schemas.microsoft.com/office/powerpoint/2010/main" val="878399037"/>
              </p:ext>
            </p:extLst>
          </p:nvPr>
        </p:nvGraphicFramePr>
        <p:xfrm>
          <a:off x="1243173" y="2243176"/>
          <a:ext cx="9705654" cy="3291840"/>
        </p:xfrm>
        <a:graphic>
          <a:graphicData uri="http://schemas.openxmlformats.org/drawingml/2006/table">
            <a:tbl>
              <a:tblPr firstRow="1" bandRow="1">
                <a:tableStyleId>{5C22544A-7EE6-4342-B048-85BDC9FD1C3A}</a:tableStyleId>
              </a:tblPr>
              <a:tblGrid>
                <a:gridCol w="2963672">
                  <a:extLst>
                    <a:ext uri="{9D8B030D-6E8A-4147-A177-3AD203B41FA5}">
                      <a16:colId xmlns:a16="http://schemas.microsoft.com/office/drawing/2014/main" val="2001243944"/>
                    </a:ext>
                  </a:extLst>
                </a:gridCol>
                <a:gridCol w="6741982">
                  <a:extLst>
                    <a:ext uri="{9D8B030D-6E8A-4147-A177-3AD203B41FA5}">
                      <a16:colId xmlns:a16="http://schemas.microsoft.com/office/drawing/2014/main" val="683540893"/>
                    </a:ext>
                  </a:extLst>
                </a:gridCol>
              </a:tblGrid>
              <a:tr h="257736">
                <a:tc>
                  <a:txBody>
                    <a:bodyPr/>
                    <a:lstStyle/>
                    <a:p>
                      <a:r>
                        <a:rPr lang="id-ID" sz="1800" dirty="0">
                          <a:latin typeface="Times New Roman" panose="02020603050405020304" pitchFamily="18" charset="0"/>
                          <a:cs typeface="Times New Roman" panose="02020603050405020304" pitchFamily="18" charset="0"/>
                        </a:rPr>
                        <a:t>Informasi Dataset</a:t>
                      </a:r>
                    </a:p>
                  </a:txBody>
                  <a:tcPr/>
                </a:tc>
                <a:tc>
                  <a:txBody>
                    <a:bodyPr/>
                    <a:lstStyle/>
                    <a:p>
                      <a:r>
                        <a:rPr lang="id-ID" sz="1800" dirty="0">
                          <a:latin typeface="Times New Roman" panose="02020603050405020304" pitchFamily="18" charset="0"/>
                          <a:cs typeface="Times New Roman" panose="02020603050405020304" pitchFamily="18" charset="0"/>
                        </a:rPr>
                        <a:t>Keterangan</a:t>
                      </a:r>
                      <a:r>
                        <a:rPr lang="en-US" sz="1800" dirty="0">
                          <a:latin typeface="Times New Roman" panose="02020603050405020304" pitchFamily="18" charset="0"/>
                          <a:cs typeface="Times New Roman" panose="02020603050405020304" pitchFamily="18" charset="0"/>
                        </a:rPr>
                        <a:t> Hasil Akhir</a:t>
                      </a:r>
                      <a:endParaRPr lang="id-ID"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9490622"/>
                  </a:ext>
                </a:extLst>
              </a:tr>
              <a:tr h="257736">
                <a:tc>
                  <a:txBody>
                    <a:bodyPr/>
                    <a:lstStyle/>
                    <a:p>
                      <a:r>
                        <a:rPr lang="id-ID" sz="1800" dirty="0">
                          <a:latin typeface="Times New Roman" panose="02020603050405020304" pitchFamily="18" charset="0"/>
                          <a:cs typeface="Times New Roman" panose="02020603050405020304" pitchFamily="18" charset="0"/>
                        </a:rPr>
                        <a:t>Nama Datase</a:t>
                      </a:r>
                      <a:r>
                        <a:rPr lang="en-US" sz="1800" dirty="0">
                          <a:latin typeface="Times New Roman" panose="02020603050405020304" pitchFamily="18" charset="0"/>
                          <a:cs typeface="Times New Roman" panose="02020603050405020304" pitchFamily="18" charset="0"/>
                        </a:rPr>
                        <a:t>t</a:t>
                      </a:r>
                      <a:endParaRPr lang="id-ID"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Marketing_Channel_Analysis_Clean.csv</a:t>
                      </a:r>
                      <a:endParaRPr lang="id-ID"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4352939"/>
                  </a:ext>
                </a:extLst>
              </a:tr>
              <a:tr h="257736">
                <a:tc>
                  <a:txBody>
                    <a:bodyPr/>
                    <a:lstStyle/>
                    <a:p>
                      <a:r>
                        <a:rPr lang="id-ID" sz="1800" dirty="0">
                          <a:latin typeface="Times New Roman" panose="02020603050405020304" pitchFamily="18" charset="0"/>
                          <a:cs typeface="Times New Roman" panose="02020603050405020304" pitchFamily="18" charset="0"/>
                        </a:rPr>
                        <a:t>Periode Data</a:t>
                      </a:r>
                    </a:p>
                  </a:txBody>
                  <a:tcPr/>
                </a:tc>
                <a:tc>
                  <a:txBody>
                    <a:bodyPr/>
                    <a:lstStyle/>
                    <a:p>
                      <a:r>
                        <a:rPr lang="id-ID" sz="1800" dirty="0">
                          <a:latin typeface="Times New Roman" panose="02020603050405020304" pitchFamily="18" charset="0"/>
                          <a:cs typeface="Times New Roman" panose="02020603050405020304" pitchFamily="18" charset="0"/>
                        </a:rPr>
                        <a:t>Januari – Desember 2025</a:t>
                      </a:r>
                    </a:p>
                  </a:txBody>
                  <a:tcPr/>
                </a:tc>
                <a:extLst>
                  <a:ext uri="{0D108BD9-81ED-4DB2-BD59-A6C34878D82A}">
                    <a16:rowId xmlns:a16="http://schemas.microsoft.com/office/drawing/2014/main" val="4126807937"/>
                  </a:ext>
                </a:extLst>
              </a:tr>
              <a:tr h="257736">
                <a:tc>
                  <a:txBody>
                    <a:bodyPr/>
                    <a:lstStyle/>
                    <a:p>
                      <a:r>
                        <a:rPr lang="id-ID" sz="1800" dirty="0">
                          <a:latin typeface="Times New Roman" panose="02020603050405020304" pitchFamily="18" charset="0"/>
                          <a:cs typeface="Times New Roman" panose="02020603050405020304" pitchFamily="18" charset="0"/>
                        </a:rPr>
                        <a:t>Jumlah Record </a:t>
                      </a:r>
                      <a:r>
                        <a:rPr lang="en-US" sz="1800" dirty="0">
                          <a:latin typeface="Times New Roman" panose="02020603050405020304" pitchFamily="18" charset="0"/>
                          <a:cs typeface="Times New Roman" panose="02020603050405020304" pitchFamily="18" charset="0"/>
                        </a:rPr>
                        <a:t>Akhir</a:t>
                      </a:r>
                      <a:endParaRPr lang="id-ID" sz="1800" dirty="0">
                        <a:latin typeface="Times New Roman" panose="02020603050405020304" pitchFamily="18" charset="0"/>
                        <a:cs typeface="Times New Roman" panose="02020603050405020304" pitchFamily="18" charset="0"/>
                      </a:endParaRPr>
                    </a:p>
                  </a:txBody>
                  <a:tcPr/>
                </a:tc>
                <a:tc>
                  <a:txBody>
                    <a:bodyPr/>
                    <a:lstStyle/>
                    <a:p>
                      <a:r>
                        <a:rPr lang="id-ID" sz="1800" dirty="0">
                          <a:latin typeface="Times New Roman" panose="02020603050405020304" pitchFamily="18" charset="0"/>
                          <a:cs typeface="Times New Roman" panose="02020603050405020304" pitchFamily="18" charset="0"/>
                        </a:rPr>
                        <a:t>1.000 baris</a:t>
                      </a:r>
                    </a:p>
                  </a:txBody>
                  <a:tcPr/>
                </a:tc>
                <a:extLst>
                  <a:ext uri="{0D108BD9-81ED-4DB2-BD59-A6C34878D82A}">
                    <a16:rowId xmlns:a16="http://schemas.microsoft.com/office/drawing/2014/main" val="935825473"/>
                  </a:ext>
                </a:extLst>
              </a:tr>
              <a:tr h="257736">
                <a:tc>
                  <a:txBody>
                    <a:bodyPr/>
                    <a:lstStyle/>
                    <a:p>
                      <a:r>
                        <a:rPr lang="id-ID" sz="1800" dirty="0">
                          <a:latin typeface="Times New Roman" panose="02020603050405020304" pitchFamily="18" charset="0"/>
                          <a:cs typeface="Times New Roman" panose="02020603050405020304" pitchFamily="18" charset="0"/>
                        </a:rPr>
                        <a:t>Jumlah Variabel</a:t>
                      </a:r>
                    </a:p>
                  </a:txBody>
                  <a:tcPr/>
                </a:tc>
                <a:tc>
                  <a:txBody>
                    <a:bodyPr/>
                    <a:lstStyle/>
                    <a:p>
                      <a:r>
                        <a:rPr lang="en-US" sz="1800" dirty="0">
                          <a:latin typeface="Times New Roman" panose="02020603050405020304" pitchFamily="18" charset="0"/>
                          <a:cs typeface="Times New Roman" panose="02020603050405020304" pitchFamily="18" charset="0"/>
                        </a:rPr>
                        <a:t>20</a:t>
                      </a:r>
                      <a:r>
                        <a:rPr lang="id-ID" sz="1800" dirty="0">
                          <a:latin typeface="Times New Roman" panose="02020603050405020304" pitchFamily="18" charset="0"/>
                          <a:cs typeface="Times New Roman" panose="02020603050405020304" pitchFamily="18" charset="0"/>
                        </a:rPr>
                        <a:t> kolom</a:t>
                      </a:r>
                    </a:p>
                  </a:txBody>
                  <a:tcPr/>
                </a:tc>
                <a:extLst>
                  <a:ext uri="{0D108BD9-81ED-4DB2-BD59-A6C34878D82A}">
                    <a16:rowId xmlns:a16="http://schemas.microsoft.com/office/drawing/2014/main" val="970393153"/>
                  </a:ext>
                </a:extLst>
              </a:tr>
              <a:tr h="140885">
                <a:tc>
                  <a:txBody>
                    <a:bodyPr/>
                    <a:lstStyle/>
                    <a:p>
                      <a:r>
                        <a:rPr lang="id-ID" sz="1800" dirty="0">
                          <a:latin typeface="Times New Roman" panose="02020603050405020304" pitchFamily="18" charset="0"/>
                          <a:cs typeface="Times New Roman" panose="02020603050405020304" pitchFamily="18" charset="0"/>
                        </a:rPr>
                        <a:t>Platform</a:t>
                      </a:r>
                    </a:p>
                  </a:txBody>
                  <a:tcPr/>
                </a:tc>
                <a:tc>
                  <a:txBody>
                    <a:bodyPr/>
                    <a:lstStyle/>
                    <a:p>
                      <a:r>
                        <a:rPr lang="en-US" sz="1800" dirty="0">
                          <a:latin typeface="Times New Roman" panose="02020603050405020304" pitchFamily="18" charset="0"/>
                          <a:cs typeface="Times New Roman" panose="02020603050405020304" pitchFamily="18" charset="0"/>
                        </a:rPr>
                        <a:t>Instagram, Facebook, TikTok, X (Twitter), YouTube</a:t>
                      </a:r>
                      <a:endParaRPr lang="id-ID"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3498314"/>
                  </a:ext>
                </a:extLst>
              </a:tr>
              <a:tr h="140885">
                <a:tc>
                  <a:txBody>
                    <a:bodyPr/>
                    <a:lstStyle/>
                    <a:p>
                      <a:r>
                        <a:rPr lang="id-ID" sz="1800" dirty="0">
                          <a:latin typeface="Times New Roman" panose="02020603050405020304" pitchFamily="18" charset="0"/>
                          <a:cs typeface="Times New Roman" panose="02020603050405020304" pitchFamily="18" charset="0"/>
                        </a:rPr>
                        <a:t>Missing Values</a:t>
                      </a:r>
                    </a:p>
                  </a:txBody>
                  <a:tcPr/>
                </a:tc>
                <a:tc>
                  <a:txBody>
                    <a:bodyPr/>
                    <a:lstStyle/>
                    <a:p>
                      <a:r>
                        <a:rPr lang="en-US" sz="1800" dirty="0">
                          <a:latin typeface="Times New Roman" panose="02020603050405020304" pitchFamily="18" charset="0"/>
                          <a:cs typeface="Times New Roman" panose="02020603050405020304" pitchFamily="18" charset="0"/>
                        </a:rPr>
                        <a:t>0</a:t>
                      </a:r>
                      <a:endParaRPr lang="id-ID"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94559986"/>
                  </a:ext>
                </a:extLst>
              </a:tr>
              <a:tr h="140885">
                <a:tc>
                  <a:txBody>
                    <a:bodyPr/>
                    <a:lstStyle/>
                    <a:p>
                      <a:r>
                        <a:rPr lang="id-ID" sz="1800" dirty="0">
                          <a:latin typeface="Times New Roman" panose="02020603050405020304" pitchFamily="18" charset="0"/>
                          <a:cs typeface="Times New Roman" panose="02020603050405020304" pitchFamily="18" charset="0"/>
                        </a:rPr>
                        <a:t>Duplicate Records</a:t>
                      </a:r>
                    </a:p>
                  </a:txBody>
                  <a:tcPr/>
                </a:tc>
                <a:tc>
                  <a:txBody>
                    <a:bodyPr/>
                    <a:lstStyle/>
                    <a:p>
                      <a:r>
                        <a:rPr lang="en-US" sz="1800" dirty="0">
                          <a:latin typeface="Times New Roman" panose="02020603050405020304" pitchFamily="18" charset="0"/>
                          <a:cs typeface="Times New Roman" panose="02020603050405020304" pitchFamily="18" charset="0"/>
                        </a:rPr>
                        <a:t>0</a:t>
                      </a:r>
                      <a:endParaRPr lang="id-ID"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84777"/>
                  </a:ext>
                </a:extLst>
              </a:tr>
              <a:tr h="140885">
                <a:tc>
                  <a:txBody>
                    <a:bodyPr/>
                    <a:lstStyle/>
                    <a:p>
                      <a:r>
                        <a:rPr lang="id-ID" sz="1800" dirty="0">
                          <a:latin typeface="Times New Roman" panose="02020603050405020304" pitchFamily="18" charset="0"/>
                          <a:cs typeface="Times New Roman" panose="02020603050405020304" pitchFamily="18" charset="0"/>
                        </a:rPr>
                        <a:t>Status Dataset</a:t>
                      </a:r>
                    </a:p>
                  </a:txBody>
                  <a:tcPr/>
                </a:tc>
                <a:tc>
                  <a:txBody>
                    <a:bodyPr/>
                    <a:lstStyle/>
                    <a:p>
                      <a:r>
                        <a:rPr lang="id-ID" sz="1800" dirty="0">
                          <a:latin typeface="Times New Roman" panose="02020603050405020304" pitchFamily="18" charset="0"/>
                          <a:cs typeface="Times New Roman" panose="02020603050405020304" pitchFamily="18" charset="0"/>
                        </a:rPr>
                        <a:t>Siap digunakan untuk EDA dan Power BI</a:t>
                      </a:r>
                    </a:p>
                  </a:txBody>
                  <a:tcPr/>
                </a:tc>
                <a:extLst>
                  <a:ext uri="{0D108BD9-81ED-4DB2-BD59-A6C34878D82A}">
                    <a16:rowId xmlns:a16="http://schemas.microsoft.com/office/drawing/2014/main" val="708972180"/>
                  </a:ext>
                </a:extLst>
              </a:tr>
            </a:tbl>
          </a:graphicData>
        </a:graphic>
      </p:graphicFrame>
    </p:spTree>
    <p:extLst>
      <p:ext uri="{BB962C8B-B14F-4D97-AF65-F5344CB8AC3E}">
        <p14:creationId xmlns:p14="http://schemas.microsoft.com/office/powerpoint/2010/main" val="682227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39373" y="297240"/>
            <a:ext cx="3913251" cy="584775"/>
          </a:xfrm>
          <a:prstGeom prst="rect">
            <a:avLst/>
          </a:prstGeom>
          <a:noFill/>
        </p:spPr>
        <p:txBody>
          <a:bodyPr wrap="none">
            <a:spAutoFit/>
          </a:bodyPr>
          <a:lstStyle/>
          <a:p>
            <a:pPr algn="ctr">
              <a:defRPr sz="2400" b="1">
                <a:solidFill>
                  <a:srgbClr val="1F4E79"/>
                </a:solidFill>
              </a:defRPr>
            </a:pPr>
            <a:r>
              <a:rPr lang="en-US" sz="3200" dirty="0">
                <a:latin typeface="Times New Roman" panose="02020603050405020304" pitchFamily="18" charset="0"/>
                <a:cs typeface="Times New Roman" panose="02020603050405020304" pitchFamily="18" charset="0"/>
              </a:rPr>
              <a:t>Dashboard Overview</a:t>
            </a:r>
          </a:p>
        </p:txBody>
      </p:sp>
      <p:sp>
        <p:nvSpPr>
          <p:cNvPr id="8" name="TextBox 7">
            <a:extLst>
              <a:ext uri="{FF2B5EF4-FFF2-40B4-BE49-F238E27FC236}">
                <a16:creationId xmlns:a16="http://schemas.microsoft.com/office/drawing/2014/main" id="{6FE25887-D9F4-ED34-E2F3-EFBE22156187}"/>
              </a:ext>
            </a:extLst>
          </p:cNvPr>
          <p:cNvSpPr txBox="1"/>
          <p:nvPr/>
        </p:nvSpPr>
        <p:spPr>
          <a:xfrm>
            <a:off x="398143" y="4529435"/>
            <a:ext cx="11395710" cy="2031325"/>
          </a:xfrm>
          <a:prstGeom prst="rect">
            <a:avLst/>
          </a:prstGeom>
          <a:noFill/>
        </p:spPr>
        <p:txBody>
          <a:bodyPr wrap="square">
            <a:spAutoFit/>
          </a:bodyPr>
          <a:lstStyle/>
          <a:p>
            <a:pPr marL="342900" indent="-342900">
              <a:buAutoNum type="arabicPeriod"/>
            </a:pPr>
            <a:r>
              <a:rPr lang="id-ID" dirty="0">
                <a:latin typeface="Times New Roman" panose="02020603050405020304" pitchFamily="18" charset="0"/>
                <a:cs typeface="Times New Roman" panose="02020603050405020304" pitchFamily="18" charset="0"/>
              </a:rPr>
              <a:t>Dashboard memberikan ringkasan performa kampanye media sosial berdasarkan empat KPI utama serta visualisasi</a:t>
            </a:r>
            <a:r>
              <a:rPr lang="en-US"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a:t>
            </a:r>
            <a:r>
              <a:rPr lang="id-ID" dirty="0">
                <a:latin typeface="Times New Roman" panose="02020603050405020304" pitchFamily="18" charset="0"/>
                <a:cs typeface="Times New Roman" panose="02020603050405020304" pitchFamily="18" charset="0"/>
              </a:rPr>
              <a:t>ren bulanan, </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t>
            </a:r>
            <a:r>
              <a:rPr lang="id-ID" dirty="0">
                <a:latin typeface="Times New Roman" panose="02020603050405020304" pitchFamily="18" charset="0"/>
                <a:cs typeface="Times New Roman" panose="02020603050405020304" pitchFamily="18" charset="0"/>
              </a:rPr>
              <a:t>each per platform,</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
            </a:r>
            <a:r>
              <a:rPr lang="id-ID" dirty="0">
                <a:latin typeface="Times New Roman" panose="02020603050405020304" pitchFamily="18" charset="0"/>
                <a:cs typeface="Times New Roman" panose="02020603050405020304" pitchFamily="18" charset="0"/>
              </a:rPr>
              <a:t>istribusi engagement berdasarkan jenis konten, dan</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a:t>
            </a:r>
            <a:r>
              <a:rPr lang="id-ID" dirty="0">
                <a:latin typeface="Times New Roman" panose="02020603050405020304" pitchFamily="18" charset="0"/>
                <a:cs typeface="Times New Roman" panose="02020603050405020304" pitchFamily="18" charset="0"/>
              </a:rPr>
              <a:t>otal klik per platform.</a:t>
            </a: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id-ID" dirty="0">
                <a:latin typeface="Times New Roman" panose="02020603050405020304" pitchFamily="18" charset="0"/>
                <a:cs typeface="Times New Roman" panose="02020603050405020304" pitchFamily="18" charset="0"/>
              </a:rPr>
              <a:t>Dashboard ini dilengkapi dengan </a:t>
            </a:r>
            <a:r>
              <a:rPr lang="id-ID" b="1" dirty="0">
                <a:latin typeface="Times New Roman" panose="02020603050405020304" pitchFamily="18" charset="0"/>
                <a:cs typeface="Times New Roman" panose="02020603050405020304" pitchFamily="18" charset="0"/>
              </a:rPr>
              <a:t>Slicer interaktif</a:t>
            </a:r>
            <a:r>
              <a:rPr lang="id-ID" dirty="0">
                <a:latin typeface="Times New Roman" panose="02020603050405020304" pitchFamily="18" charset="0"/>
                <a:cs typeface="Times New Roman" panose="02020603050405020304" pitchFamily="18" charset="0"/>
              </a:rPr>
              <a:t> (Platform, Month, Region) serta </a:t>
            </a:r>
            <a:r>
              <a:rPr lang="id-ID" b="1" dirty="0">
                <a:latin typeface="Times New Roman" panose="02020603050405020304" pitchFamily="18" charset="0"/>
                <a:cs typeface="Times New Roman" panose="02020603050405020304" pitchFamily="18" charset="0"/>
              </a:rPr>
              <a:t>Filters Pane</a:t>
            </a:r>
            <a:r>
              <a:rPr lang="id-ID" dirty="0">
                <a:latin typeface="Times New Roman" panose="02020603050405020304" pitchFamily="18" charset="0"/>
                <a:cs typeface="Times New Roman" panose="02020603050405020304" pitchFamily="18" charset="0"/>
              </a:rPr>
              <a:t> (Campaign Name &amp; Target Audience) untuk memudahkan drill-down analisis sesuai kebutuhan spesifik stakeholder.</a:t>
            </a:r>
            <a:endParaRPr lang="en-US"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5BA0AFBD-B9AC-B21D-09C2-A8E25A86B54A}"/>
              </a:ext>
            </a:extLst>
          </p:cNvPr>
          <p:cNvPicPr>
            <a:picLocks noChangeAspect="1"/>
          </p:cNvPicPr>
          <p:nvPr/>
        </p:nvPicPr>
        <p:blipFill>
          <a:blip r:embed="rId2"/>
          <a:stretch>
            <a:fillRect/>
          </a:stretch>
        </p:blipFill>
        <p:spPr>
          <a:xfrm>
            <a:off x="2556016" y="882015"/>
            <a:ext cx="7079968" cy="3647420"/>
          </a:xfrm>
          <a:prstGeom prst="rect">
            <a:avLst/>
          </a:prstGeom>
        </p:spPr>
      </p:pic>
    </p:spTree>
    <p:extLst>
      <p:ext uri="{BB962C8B-B14F-4D97-AF65-F5344CB8AC3E}">
        <p14:creationId xmlns:p14="http://schemas.microsoft.com/office/powerpoint/2010/main" val="2055205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9991" y="297239"/>
            <a:ext cx="8332025" cy="584775"/>
          </a:xfrm>
          <a:prstGeom prst="rect">
            <a:avLst/>
          </a:prstGeom>
          <a:noFill/>
        </p:spPr>
        <p:txBody>
          <a:bodyPr wrap="none">
            <a:spAutoFit/>
          </a:bodyPr>
          <a:lstStyle/>
          <a:p>
            <a:pPr algn="ctr">
              <a:defRPr sz="2400" b="1">
                <a:solidFill>
                  <a:srgbClr val="1F4E79"/>
                </a:solidFill>
              </a:defRPr>
            </a:pPr>
            <a:r>
              <a:rPr lang="en-US" sz="3200" dirty="0">
                <a:latin typeface="Times New Roman" panose="02020603050405020304" pitchFamily="18" charset="0"/>
                <a:cs typeface="Times New Roman" panose="02020603050405020304" pitchFamily="18" charset="0"/>
              </a:rPr>
              <a:t>Data Visualization - </a:t>
            </a:r>
            <a:r>
              <a:rPr lang="id-ID" sz="3200" dirty="0">
                <a:latin typeface="Times New Roman" panose="02020603050405020304" pitchFamily="18" charset="0"/>
                <a:cs typeface="Times New Roman" panose="02020603050405020304" pitchFamily="18" charset="0"/>
              </a:rPr>
              <a:t>Monthly Campaign Tren</a:t>
            </a:r>
            <a:r>
              <a:rPr lang="en-US" sz="3200" dirty="0">
                <a:latin typeface="Times New Roman" panose="02020603050405020304" pitchFamily="18" charset="0"/>
                <a:cs typeface="Times New Roman" panose="02020603050405020304" pitchFamily="18" charset="0"/>
              </a:rPr>
              <a:t>d</a:t>
            </a:r>
            <a:endParaRPr lang="id-ID"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B3589F3-5A8A-BB45-D78E-F09F540D8550}"/>
              </a:ext>
            </a:extLst>
          </p:cNvPr>
          <p:cNvPicPr>
            <a:picLocks noChangeAspect="1"/>
          </p:cNvPicPr>
          <p:nvPr/>
        </p:nvPicPr>
        <p:blipFill>
          <a:blip r:embed="rId2"/>
          <a:stretch>
            <a:fillRect/>
          </a:stretch>
        </p:blipFill>
        <p:spPr>
          <a:xfrm>
            <a:off x="3447391" y="882014"/>
            <a:ext cx="5297217" cy="1948281"/>
          </a:xfrm>
          <a:prstGeom prst="rect">
            <a:avLst/>
          </a:prstGeom>
        </p:spPr>
      </p:pic>
      <p:sp>
        <p:nvSpPr>
          <p:cNvPr id="8" name="Rectangle 2">
            <a:extLst>
              <a:ext uri="{FF2B5EF4-FFF2-40B4-BE49-F238E27FC236}">
                <a16:creationId xmlns:a16="http://schemas.microsoft.com/office/drawing/2014/main" id="{F973A900-FCAB-7CF7-B4FA-4D6B909299B3}"/>
              </a:ext>
            </a:extLst>
          </p:cNvPr>
          <p:cNvSpPr>
            <a:spLocks noChangeArrowheads="1"/>
          </p:cNvSpPr>
          <p:nvPr/>
        </p:nvSpPr>
        <p:spPr bwMode="auto">
          <a:xfrm>
            <a:off x="236306" y="2904061"/>
            <a:ext cx="12027613"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Insight: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Fluktuasi Output Konten yang Signifikan:</a:t>
            </a:r>
            <a:endParaRPr lang="en-US" altLang="id-ID"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Aktivitas publikasi mengalami penurunan tajam di </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April (66 post)</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dan </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November (70 post)</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yang berjarak cukup jauh dari </a:t>
            </a:r>
            <a:r>
              <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rata</a:t>
            </a:r>
            <a:r>
              <a:rPr lang="en-US" altLang="id-ID" sz="1600" dirty="0">
                <a:latin typeface="Times New Roman" panose="02020603050405020304" pitchFamily="18" charset="0"/>
                <a:cs typeface="Times New Roman" panose="02020603050405020304" pitchFamily="18" charset="0"/>
              </a:rPr>
              <a:t> </a:t>
            </a:r>
            <a:r>
              <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US" altLang="id-ID" sz="1600" dirty="0">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rata bulanan </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(~83 post)</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lang="en-US" altLang="id-ID" sz="16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2"/>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Masalah Perencanaan Kapasitas (</a:t>
            </a:r>
            <a:r>
              <a:rPr kumimoji="0" lang="id-ID" altLang="id-ID" sz="16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Capacity Planning</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Pola naik-turun yang drastis ini mengindikasikan belum adanya standar batas minimum postingan (</a:t>
            </a:r>
            <a:r>
              <a:rPr kumimoji="0" lang="id-ID" altLang="id-ID"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content buffer</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bulanan</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yang konsisten.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Recommendation: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Investigasi Penyebab Drop (Post-Mortem):</a:t>
            </a:r>
            <a:r>
              <a:rPr lang="en-US" altLang="id-ID" sz="1600" dirty="0">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Evaluasi kendala operasional pada bulan </a:t>
            </a:r>
            <a:r>
              <a:rPr lang="id-ID" sz="1600" b="1" dirty="0">
                <a:latin typeface="Times New Roman" panose="02020603050405020304" pitchFamily="18" charset="0"/>
                <a:cs typeface="Times New Roman" panose="02020603050405020304" pitchFamily="18" charset="0"/>
              </a:rPr>
              <a:t>April dan November </a:t>
            </a:r>
            <a:r>
              <a:rPr lang="id-ID" sz="1600" dirty="0">
                <a:latin typeface="Times New Roman" panose="02020603050405020304" pitchFamily="18" charset="0"/>
                <a:cs typeface="Times New Roman" panose="02020603050405020304" pitchFamily="18" charset="0"/>
              </a:rPr>
              <a:t>(misal: </a:t>
            </a:r>
            <a:r>
              <a:rPr lang="id-ID" sz="1600" b="1" dirty="0">
                <a:latin typeface="Times New Roman" panose="02020603050405020304" pitchFamily="18" charset="0"/>
                <a:cs typeface="Times New Roman" panose="02020603050405020304" pitchFamily="18" charset="0"/>
              </a:rPr>
              <a:t>kendala </a:t>
            </a:r>
            <a:r>
              <a:rPr lang="id-ID" sz="1600" b="1" i="1" dirty="0">
                <a:latin typeface="Times New Roman" panose="02020603050405020304" pitchFamily="18" charset="0"/>
                <a:cs typeface="Times New Roman" panose="02020603050405020304" pitchFamily="18" charset="0"/>
              </a:rPr>
              <a:t>resource</a:t>
            </a:r>
            <a:r>
              <a:rPr lang="id-ID" sz="1600" b="1" dirty="0">
                <a:latin typeface="Times New Roman" panose="02020603050405020304" pitchFamily="18" charset="0"/>
                <a:cs typeface="Times New Roman" panose="02020603050405020304" pitchFamily="18" charset="0"/>
              </a:rPr>
              <a:t>, kendala teknis, atau libu</a:t>
            </a:r>
            <a:r>
              <a:rPr lang="en-US" sz="1600" b="1" dirty="0">
                <a:latin typeface="Times New Roman" panose="02020603050405020304" pitchFamily="18" charset="0"/>
                <a:cs typeface="Times New Roman" panose="02020603050405020304" pitchFamily="18" charset="0"/>
              </a:rPr>
              <a:t>r </a:t>
            </a:r>
          </a:p>
          <a:p>
            <a:pPr marR="0" lvl="0" algn="l" defTabSz="914400" rtl="0" eaLnBrk="0" fontAlgn="base" latinLnBrk="0" hangingPunct="0">
              <a:lnSpc>
                <a:spcPct val="100000"/>
              </a:lnSpc>
              <a:spcBef>
                <a:spcPct val="0"/>
              </a:spcBef>
              <a:spcAft>
                <a:spcPct val="0"/>
              </a:spcAft>
              <a:buClrTx/>
              <a:buSzTx/>
              <a:tabLst/>
            </a:pPr>
            <a:r>
              <a:rPr lang="en-US" sz="1600" b="1" dirty="0">
                <a:latin typeface="Times New Roman" panose="02020603050405020304" pitchFamily="18" charset="0"/>
                <a:cs typeface="Times New Roman" panose="02020603050405020304" pitchFamily="18" charset="0"/>
              </a:rPr>
              <a:t>      </a:t>
            </a:r>
            <a:r>
              <a:rPr lang="id-ID" sz="1600" b="1" dirty="0">
                <a:latin typeface="Times New Roman" panose="02020603050405020304" pitchFamily="18" charset="0"/>
                <a:cs typeface="Times New Roman" panose="02020603050405020304" pitchFamily="18" charset="0"/>
              </a:rPr>
              <a:t>nasional</a:t>
            </a:r>
            <a:r>
              <a:rPr lang="id-ID"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untuk mencegah terulang di periode berikutnya</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2"/>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Tetapkan Threshold Minimum Posting:</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Buat aturan SOP baru dengan batas minimum postingan (misalnya minimal </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80 post/bulan</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agar eksposur merek tetap stabil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sepanjang tahun. </a:t>
            </a:r>
          </a:p>
          <a:p>
            <a:pPr marR="0" lvl="0" algn="l" defTabSz="914400" rtl="0" eaLnBrk="0" fontAlgn="base" latinLnBrk="0" hangingPunct="0">
              <a:lnSpc>
                <a:spcPct val="100000"/>
              </a:lnSpc>
              <a:spcBef>
                <a:spcPct val="0"/>
              </a:spcBef>
              <a:spcAft>
                <a:spcPct val="0"/>
              </a:spcAft>
              <a:buClrTx/>
              <a:buSzTx/>
              <a:tabLst/>
            </a:pPr>
            <a:endParaRPr kumimoji="0" lang="id-ID" altLang="id-ID"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3572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68562" y="297239"/>
            <a:ext cx="7054881" cy="584775"/>
          </a:xfrm>
          <a:prstGeom prst="rect">
            <a:avLst/>
          </a:prstGeom>
          <a:noFill/>
        </p:spPr>
        <p:txBody>
          <a:bodyPr wrap="none">
            <a:spAutoFit/>
          </a:bodyPr>
          <a:lstStyle/>
          <a:p>
            <a:pPr algn="ctr">
              <a:defRPr sz="2400" b="1">
                <a:solidFill>
                  <a:srgbClr val="1F4E79"/>
                </a:solidFill>
              </a:defRPr>
            </a:pPr>
            <a:r>
              <a:rPr lang="en-US" sz="3200" dirty="0">
                <a:latin typeface="Times New Roman" panose="02020603050405020304" pitchFamily="18" charset="0"/>
                <a:cs typeface="Times New Roman" panose="02020603050405020304" pitchFamily="18" charset="0"/>
              </a:rPr>
              <a:t>Data Visualization - </a:t>
            </a:r>
            <a:r>
              <a:rPr lang="id-ID" sz="3200" dirty="0">
                <a:latin typeface="Times New Roman" panose="02020603050405020304" pitchFamily="18" charset="0"/>
                <a:cs typeface="Times New Roman" panose="02020603050405020304" pitchFamily="18" charset="0"/>
              </a:rPr>
              <a:t>Reach by Platfor</a:t>
            </a:r>
            <a:r>
              <a:rPr lang="en-US" sz="3200" dirty="0">
                <a:latin typeface="Times New Roman" panose="02020603050405020304" pitchFamily="18" charset="0"/>
                <a:cs typeface="Times New Roman" panose="02020603050405020304" pitchFamily="18" charset="0"/>
              </a:rPr>
              <a:t>m</a:t>
            </a:r>
            <a:endParaRPr lang="id-ID"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DBCEF7D-471D-C901-BF2A-1CB6AB69D55B}"/>
              </a:ext>
            </a:extLst>
          </p:cNvPr>
          <p:cNvPicPr>
            <a:picLocks noChangeAspect="1"/>
          </p:cNvPicPr>
          <p:nvPr/>
        </p:nvPicPr>
        <p:blipFill>
          <a:blip r:embed="rId2"/>
          <a:stretch>
            <a:fillRect/>
          </a:stretch>
        </p:blipFill>
        <p:spPr>
          <a:xfrm>
            <a:off x="3417471" y="882014"/>
            <a:ext cx="5357057" cy="2020892"/>
          </a:xfrm>
          <a:prstGeom prst="rect">
            <a:avLst/>
          </a:prstGeom>
        </p:spPr>
      </p:pic>
      <p:sp>
        <p:nvSpPr>
          <p:cNvPr id="9" name="Rectangle 2">
            <a:extLst>
              <a:ext uri="{FF2B5EF4-FFF2-40B4-BE49-F238E27FC236}">
                <a16:creationId xmlns:a16="http://schemas.microsoft.com/office/drawing/2014/main" id="{B423EC77-CBE9-D0F3-72C3-4F8658A67C2D}"/>
              </a:ext>
            </a:extLst>
          </p:cNvPr>
          <p:cNvSpPr>
            <a:spLocks noChangeArrowheads="1"/>
          </p:cNvSpPr>
          <p:nvPr/>
        </p:nvSpPr>
        <p:spPr bwMode="auto">
          <a:xfrm>
            <a:off x="267151" y="3008165"/>
            <a:ext cx="12027613"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Insight: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Penyebaran Ekosistem yang Seimbang:</a:t>
            </a:r>
            <a:endParaRPr lang="en-US" altLang="id-ID"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lang="id-ID" sz="1600" b="1" dirty="0">
                <a:latin typeface="Times New Roman" panose="02020603050405020304" pitchFamily="18" charset="0"/>
                <a:cs typeface="Times New Roman" panose="02020603050405020304" pitchFamily="18" charset="0"/>
              </a:rPr>
              <a:t>Instagram</a:t>
            </a:r>
            <a:r>
              <a:rPr lang="id-ID" sz="1600" dirty="0">
                <a:latin typeface="Times New Roman" panose="02020603050405020304" pitchFamily="18" charset="0"/>
                <a:cs typeface="Times New Roman" panose="02020603050405020304" pitchFamily="18" charset="0"/>
              </a:rPr>
              <a:t> memimpin dengan jangkauan terbesar (86Jt), disusul oleh </a:t>
            </a:r>
            <a:r>
              <a:rPr lang="id-ID" sz="1600" b="1" dirty="0">
                <a:latin typeface="Times New Roman" panose="02020603050405020304" pitchFamily="18" charset="0"/>
                <a:cs typeface="Times New Roman" panose="02020603050405020304" pitchFamily="18" charset="0"/>
              </a:rPr>
              <a:t>YouTube</a:t>
            </a:r>
            <a:r>
              <a:rPr lang="id-ID" sz="1600" dirty="0">
                <a:latin typeface="Times New Roman" panose="02020603050405020304" pitchFamily="18" charset="0"/>
                <a:cs typeface="Times New Roman" panose="02020603050405020304" pitchFamily="18" charset="0"/>
              </a:rPr>
              <a:t> (84Jt), </a:t>
            </a:r>
            <a:r>
              <a:rPr lang="id-ID" sz="1600" b="1" dirty="0">
                <a:latin typeface="Times New Roman" panose="02020603050405020304" pitchFamily="18" charset="0"/>
                <a:cs typeface="Times New Roman" panose="02020603050405020304" pitchFamily="18" charset="0"/>
              </a:rPr>
              <a:t>X/Twitter</a:t>
            </a:r>
            <a:r>
              <a:rPr lang="id-ID" sz="1600" dirty="0">
                <a:latin typeface="Times New Roman" panose="02020603050405020304" pitchFamily="18" charset="0"/>
                <a:cs typeface="Times New Roman" panose="02020603050405020304" pitchFamily="18" charset="0"/>
              </a:rPr>
              <a:t> (82Jt), </a:t>
            </a:r>
            <a:r>
              <a:rPr lang="id-ID" sz="1600" b="1" dirty="0">
                <a:latin typeface="Times New Roman" panose="02020603050405020304" pitchFamily="18" charset="0"/>
                <a:cs typeface="Times New Roman" panose="02020603050405020304" pitchFamily="18" charset="0"/>
              </a:rPr>
              <a:t>Facebook</a:t>
            </a:r>
            <a:r>
              <a:rPr lang="id-ID" sz="1600" dirty="0">
                <a:latin typeface="Times New Roman" panose="02020603050405020304" pitchFamily="18" charset="0"/>
                <a:cs typeface="Times New Roman" panose="02020603050405020304" pitchFamily="18" charset="0"/>
              </a:rPr>
              <a:t> (80Jt),</a:t>
            </a:r>
            <a:endParaRPr lang="en-US"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dan </a:t>
            </a:r>
            <a:r>
              <a:rPr lang="id-ID" sz="1600" b="1" dirty="0">
                <a:latin typeface="Times New Roman" panose="02020603050405020304" pitchFamily="18" charset="0"/>
                <a:cs typeface="Times New Roman" panose="02020603050405020304" pitchFamily="18" charset="0"/>
              </a:rPr>
              <a:t>TikTok</a:t>
            </a:r>
            <a:r>
              <a:rPr lang="id-ID" sz="1600" dirty="0">
                <a:latin typeface="Times New Roman" panose="02020603050405020304" pitchFamily="18" charset="0"/>
                <a:cs typeface="Times New Roman" panose="02020603050405020304" pitchFamily="18" charset="0"/>
              </a:rPr>
              <a:t> (77Jt)</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2"/>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Peluang Pertumbuhan di TikTok:</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Meskipun berada di posisi paling bawah (77Jt), TikTok memiliki potensi algoritma distribusi organik (</a:t>
            </a:r>
            <a:r>
              <a:rPr lang="id-ID" sz="1600" i="1" dirty="0">
                <a:latin typeface="Times New Roman" panose="02020603050405020304" pitchFamily="18" charset="0"/>
                <a:cs typeface="Times New Roman" panose="02020603050405020304" pitchFamily="18" charset="0"/>
              </a:rPr>
              <a:t>FYP</a:t>
            </a:r>
            <a:r>
              <a:rPr lang="id-ID" sz="1600" dirty="0">
                <a:latin typeface="Times New Roman" panose="02020603050405020304" pitchFamily="18" charset="0"/>
                <a:cs typeface="Times New Roman" panose="02020603050405020304" pitchFamily="18" charset="0"/>
              </a:rPr>
              <a:t>) yang sangat </a:t>
            </a:r>
            <a:endParaRPr lang="en-US"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fleksibel untuk menjangkau audiens baru secara eksponensial</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lang="en-US" altLang="id-ID"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Recommendation: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id-ID" sz="1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Skalakan</a:t>
            </a:r>
            <a:r>
              <a:rPr kumimoji="0" lang="en-US"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Share of Voice di TikTok</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lang="en-US" altLang="id-ID"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Alokasikan lebih banyak porsi konten berformat </a:t>
            </a:r>
            <a:r>
              <a:rPr lang="id-ID" sz="1600" b="1" i="1" dirty="0">
                <a:latin typeface="Times New Roman" panose="02020603050405020304" pitchFamily="18" charset="0"/>
                <a:cs typeface="Times New Roman" panose="02020603050405020304" pitchFamily="18" charset="0"/>
              </a:rPr>
              <a:t>short-form video</a:t>
            </a:r>
            <a:r>
              <a:rPr lang="id-ID" sz="1600" b="1"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ke TikTok untuk mendongkrak jangkauan organiknya agar </a:t>
            </a:r>
            <a:endParaRPr lang="en-US"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sejajar dengan Instagram dan YouTube</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lang="en-US" altLang="id-ID" sz="16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2"/>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Terapkan Cross-Posting Efisien:</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Manfaatkan aset visual utama dari Instagram untuk diolah ulang (repurpose) ke TikTok dan YouTube Shorts guna menghemat </a:t>
            </a:r>
            <a:endParaRPr lang="en-US"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biaya produksi.</a:t>
            </a:r>
            <a:endPar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828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24110" y="297239"/>
            <a:ext cx="8943795" cy="584775"/>
          </a:xfrm>
          <a:prstGeom prst="rect">
            <a:avLst/>
          </a:prstGeom>
          <a:noFill/>
        </p:spPr>
        <p:txBody>
          <a:bodyPr wrap="none">
            <a:spAutoFit/>
          </a:bodyPr>
          <a:lstStyle/>
          <a:p>
            <a:pPr algn="ctr">
              <a:defRPr sz="2400" b="1">
                <a:solidFill>
                  <a:srgbClr val="1F4E79"/>
                </a:solidFill>
              </a:defRPr>
            </a:pPr>
            <a:r>
              <a:rPr lang="en-US" sz="3200" dirty="0">
                <a:latin typeface="Times New Roman" panose="02020603050405020304" pitchFamily="18" charset="0"/>
                <a:cs typeface="Times New Roman" panose="02020603050405020304" pitchFamily="18" charset="0"/>
              </a:rPr>
              <a:t>Data Visualization - </a:t>
            </a:r>
            <a:r>
              <a:rPr lang="id-ID" sz="3200" dirty="0">
                <a:latin typeface="Times New Roman" panose="02020603050405020304" pitchFamily="18" charset="0"/>
                <a:cs typeface="Times New Roman" panose="02020603050405020304" pitchFamily="18" charset="0"/>
              </a:rPr>
              <a:t>Engagement by Content Type</a:t>
            </a:r>
          </a:p>
        </p:txBody>
      </p:sp>
      <p:pic>
        <p:nvPicPr>
          <p:cNvPr id="6" name="Picture 5">
            <a:extLst>
              <a:ext uri="{FF2B5EF4-FFF2-40B4-BE49-F238E27FC236}">
                <a16:creationId xmlns:a16="http://schemas.microsoft.com/office/drawing/2014/main" id="{6512ADDD-5300-7B32-467E-02712EE198C9}"/>
              </a:ext>
            </a:extLst>
          </p:cNvPr>
          <p:cNvPicPr>
            <a:picLocks noChangeAspect="1"/>
          </p:cNvPicPr>
          <p:nvPr/>
        </p:nvPicPr>
        <p:blipFill>
          <a:blip r:embed="rId2"/>
          <a:stretch>
            <a:fillRect/>
          </a:stretch>
        </p:blipFill>
        <p:spPr>
          <a:xfrm>
            <a:off x="3458993" y="882013"/>
            <a:ext cx="5274013" cy="1991320"/>
          </a:xfrm>
          <a:prstGeom prst="rect">
            <a:avLst/>
          </a:prstGeom>
        </p:spPr>
      </p:pic>
      <p:sp>
        <p:nvSpPr>
          <p:cNvPr id="7" name="Rectangle 2">
            <a:extLst>
              <a:ext uri="{FF2B5EF4-FFF2-40B4-BE49-F238E27FC236}">
                <a16:creationId xmlns:a16="http://schemas.microsoft.com/office/drawing/2014/main" id="{359EFEB0-51C1-3CDC-00A3-F63B20C3EE7D}"/>
              </a:ext>
            </a:extLst>
          </p:cNvPr>
          <p:cNvSpPr>
            <a:spLocks noChangeArrowheads="1"/>
          </p:cNvSpPr>
          <p:nvPr/>
        </p:nvSpPr>
        <p:spPr bwMode="auto">
          <a:xfrm>
            <a:off x="236306" y="2899174"/>
            <a:ext cx="12027613"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Insight: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Dominasi Konten Informatif/Edukasi:</a:t>
            </a:r>
            <a:endParaRPr lang="en-US" altLang="id-ID"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Format </a:t>
            </a:r>
            <a:r>
              <a:rPr lang="id-ID" sz="1600" b="1" dirty="0">
                <a:latin typeface="Times New Roman" panose="02020603050405020304" pitchFamily="18" charset="0"/>
                <a:cs typeface="Times New Roman" panose="02020603050405020304" pitchFamily="18" charset="0"/>
              </a:rPr>
              <a:t>Infographic (19,00%)</a:t>
            </a:r>
            <a:r>
              <a:rPr lang="id-ID" sz="1600" dirty="0">
                <a:latin typeface="Times New Roman" panose="02020603050405020304" pitchFamily="18" charset="0"/>
                <a:cs typeface="Times New Roman" panose="02020603050405020304" pitchFamily="18" charset="0"/>
              </a:rPr>
              <a:t> dan </a:t>
            </a:r>
            <a:r>
              <a:rPr lang="id-ID" sz="1600" b="1" dirty="0">
                <a:latin typeface="Times New Roman" panose="02020603050405020304" pitchFamily="18" charset="0"/>
                <a:cs typeface="Times New Roman" panose="02020603050405020304" pitchFamily="18" charset="0"/>
              </a:rPr>
              <a:t>Image (18,08%)</a:t>
            </a:r>
            <a:r>
              <a:rPr lang="id-ID" sz="1600" dirty="0">
                <a:latin typeface="Times New Roman" panose="02020603050405020304" pitchFamily="18" charset="0"/>
                <a:cs typeface="Times New Roman" panose="02020603050405020304" pitchFamily="18" charset="0"/>
              </a:rPr>
              <a:t> menjadi penyumbang interaksi (</a:t>
            </a:r>
            <a:r>
              <a:rPr lang="id-ID" sz="1600" i="1" dirty="0">
                <a:latin typeface="Times New Roman" panose="02020603050405020304" pitchFamily="18" charset="0"/>
                <a:cs typeface="Times New Roman" panose="02020603050405020304" pitchFamily="18" charset="0"/>
              </a:rPr>
              <a:t>engagement</a:t>
            </a:r>
            <a:r>
              <a:rPr lang="id-ID" sz="1600" dirty="0">
                <a:latin typeface="Times New Roman" panose="02020603050405020304" pitchFamily="18" charset="0"/>
                <a:cs typeface="Times New Roman" panose="02020603050405020304" pitchFamily="18" charset="0"/>
              </a:rPr>
              <a:t>) terbesar dengan total </a:t>
            </a:r>
            <a:endParaRPr lang="en-US"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gabungan mencapai </a:t>
            </a:r>
            <a:r>
              <a:rPr lang="id-ID" sz="1600" b="1" dirty="0">
                <a:latin typeface="Times New Roman" panose="02020603050405020304" pitchFamily="18" charset="0"/>
                <a:cs typeface="Times New Roman" panose="02020603050405020304" pitchFamily="18" charset="0"/>
              </a:rPr>
              <a:t>37,08%</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2"/>
              <a:tabLst/>
            </a:pPr>
            <a:r>
              <a:rPr kumimoji="0" lang="da-DK"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 Reels &amp; Video Masih di Bawah Ekspektasi</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lang="en-US" altLang="id-ID"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lang="id-ID" sz="1600" b="1" dirty="0">
                <a:latin typeface="Times New Roman" panose="02020603050405020304" pitchFamily="18" charset="0"/>
                <a:cs typeface="Times New Roman" panose="02020603050405020304" pitchFamily="18" charset="0"/>
              </a:rPr>
              <a:t>Reels (16,03%)</a:t>
            </a:r>
            <a:r>
              <a:rPr lang="id-ID" sz="1600" dirty="0">
                <a:latin typeface="Times New Roman" panose="02020603050405020304" pitchFamily="18" charset="0"/>
                <a:cs typeface="Times New Roman" panose="02020603050405020304" pitchFamily="18" charset="0"/>
              </a:rPr>
              <a:t> dan </a:t>
            </a:r>
            <a:r>
              <a:rPr lang="id-ID" sz="1600" b="1" dirty="0">
                <a:latin typeface="Times New Roman" panose="02020603050405020304" pitchFamily="18" charset="0"/>
                <a:cs typeface="Times New Roman" panose="02020603050405020304" pitchFamily="18" charset="0"/>
              </a:rPr>
              <a:t>Video (14,51%)</a:t>
            </a:r>
            <a:r>
              <a:rPr lang="id-ID" sz="1600" dirty="0">
                <a:latin typeface="Times New Roman" panose="02020603050405020304" pitchFamily="18" charset="0"/>
                <a:cs typeface="Times New Roman" panose="02020603050405020304" pitchFamily="18" charset="0"/>
              </a:rPr>
              <a:t> justru menduduki posisi terbawah, padahal format video umumnya diprediksi memiliki </a:t>
            </a:r>
            <a:endParaRPr lang="en-US"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tingkat interaksi tertinggi di media sosial saat ini</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lang="en-US" altLang="id-ID"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Recommendation: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da-DK"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Evaluasi &amp; Re-strategi Format Video/Reels</a:t>
            </a: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lang="en-US" altLang="id-ID"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Tinjau ulang kualitas </a:t>
            </a:r>
            <a:r>
              <a:rPr lang="id-ID" sz="1600" i="1" dirty="0">
                <a:latin typeface="Times New Roman" panose="02020603050405020304" pitchFamily="18" charset="0"/>
                <a:cs typeface="Times New Roman" panose="02020603050405020304" pitchFamily="18" charset="0"/>
              </a:rPr>
              <a:t>hook</a:t>
            </a:r>
            <a:r>
              <a:rPr lang="id-ID" sz="1600" dirty="0">
                <a:latin typeface="Times New Roman" panose="02020603050405020304" pitchFamily="18" charset="0"/>
                <a:cs typeface="Times New Roman" panose="02020603050405020304" pitchFamily="18" charset="0"/>
              </a:rPr>
              <a:t> (3 detik pertama), </a:t>
            </a:r>
            <a:r>
              <a:rPr lang="id-ID" sz="1600" i="1" dirty="0">
                <a:latin typeface="Times New Roman" panose="02020603050405020304" pitchFamily="18" charset="0"/>
                <a:cs typeface="Times New Roman" panose="02020603050405020304" pitchFamily="18" charset="0"/>
              </a:rPr>
              <a:t>editing</a:t>
            </a:r>
            <a:r>
              <a:rPr lang="id-ID" sz="1600" dirty="0">
                <a:latin typeface="Times New Roman" panose="02020603050405020304" pitchFamily="18" charset="0"/>
                <a:cs typeface="Times New Roman" panose="02020603050405020304" pitchFamily="18" charset="0"/>
              </a:rPr>
              <a:t>, audio, dan skrip pada konten Reels/Video agar lebih komunikatif dan </a:t>
            </a:r>
            <a:endParaRPr lang="en-US"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interaktif</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2"/>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Lakukan A/B Testing Konten:</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Uji coba menyampaikan satu topik yang sama dalam dua format berbeda (1 Infografis vs 1 Reels) untuk membandingkan </a:t>
            </a:r>
            <a:endParaRPr lang="en-US"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tingkat keterlibatan audiens secara </a:t>
            </a:r>
            <a:r>
              <a:rPr lang="id-ID" sz="1600" i="1" dirty="0">
                <a:latin typeface="Times New Roman" panose="02020603050405020304" pitchFamily="18" charset="0"/>
                <a:cs typeface="Times New Roman" panose="02020603050405020304" pitchFamily="18" charset="0"/>
              </a:rPr>
              <a:t>head-to-head</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863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4869" y="250710"/>
            <a:ext cx="10002251" cy="584775"/>
          </a:xfrm>
          <a:prstGeom prst="rect">
            <a:avLst/>
          </a:prstGeom>
          <a:noFill/>
        </p:spPr>
        <p:txBody>
          <a:bodyPr wrap="square">
            <a:spAutoFit/>
          </a:bodyPr>
          <a:lstStyle/>
          <a:p>
            <a:pPr algn="ctr">
              <a:defRPr sz="2400" b="1">
                <a:solidFill>
                  <a:srgbClr val="1F4E79"/>
                </a:solidFill>
              </a:defRPr>
            </a:pPr>
            <a:r>
              <a:rPr lang="en-US" sz="3200" dirty="0">
                <a:latin typeface="Times New Roman" panose="02020603050405020304" pitchFamily="18" charset="0"/>
                <a:cs typeface="Times New Roman" panose="02020603050405020304" pitchFamily="18" charset="0"/>
              </a:rPr>
              <a:t>Data Visualization - Total Clicks by Platform</a:t>
            </a:r>
            <a:endParaRPr lang="id-ID" sz="32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3DDCB96-FFC0-195B-ED67-D851C92A35AF}"/>
              </a:ext>
            </a:extLst>
          </p:cNvPr>
          <p:cNvPicPr>
            <a:picLocks noChangeAspect="1"/>
          </p:cNvPicPr>
          <p:nvPr/>
        </p:nvPicPr>
        <p:blipFill>
          <a:blip r:embed="rId2"/>
          <a:stretch>
            <a:fillRect/>
          </a:stretch>
        </p:blipFill>
        <p:spPr>
          <a:xfrm>
            <a:off x="3526031" y="835485"/>
            <a:ext cx="5395594" cy="2015936"/>
          </a:xfrm>
          <a:prstGeom prst="rect">
            <a:avLst/>
          </a:prstGeom>
        </p:spPr>
      </p:pic>
      <p:sp>
        <p:nvSpPr>
          <p:cNvPr id="10" name="Rectangle 2">
            <a:extLst>
              <a:ext uri="{FF2B5EF4-FFF2-40B4-BE49-F238E27FC236}">
                <a16:creationId xmlns:a16="http://schemas.microsoft.com/office/drawing/2014/main" id="{324AB6B3-004C-8A92-3354-CA45D1A5C54B}"/>
              </a:ext>
            </a:extLst>
          </p:cNvPr>
          <p:cNvSpPr>
            <a:spLocks noChangeArrowheads="1"/>
          </p:cNvSpPr>
          <p:nvPr/>
        </p:nvSpPr>
        <p:spPr bwMode="auto">
          <a:xfrm>
            <a:off x="203765" y="2987481"/>
            <a:ext cx="11988235"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Insight: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Instagram &amp; X (Twitter) Sebagai Driver Utama Konversi Klik:</a:t>
            </a:r>
            <a:endPar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Dua platform berbasis konten visual cepat dan teks/tautan langsung ini berhasil menyumbangkan porsi klik terbesar, </a:t>
            </a:r>
            <a:r>
              <a:rPr lang="en-US" altLang="id-ID" sz="1600" dirty="0">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id-ID" sz="16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membuktikan bahwa audiens di kedua kanal tersebut paling aktif merespons panggilan aksi (</a:t>
            </a:r>
            <a:r>
              <a:rPr kumimoji="0" lang="id-ID" altLang="id-ID"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Call-to-Action</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2"/>
              <a:tabLst/>
            </a:pPr>
            <a:r>
              <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Potensi Pertumbuhan yang Belum Optimal di TikTok:</a:t>
            </a:r>
            <a:endParaRPr lang="en-US" altLang="id-ID"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Merekam 158Rb klik, TikTok berada di posisi terbawah untuk metrik </a:t>
            </a:r>
            <a:r>
              <a:rPr kumimoji="0" lang="id-ID" altLang="id-ID"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Clicks</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Meskipun demikian, angka ini masih</a:t>
            </a:r>
            <a:r>
              <a:rPr kumimoji="0" lang="en-US" altLang="id-ID" sz="16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sangat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altLang="id-ID" sz="1600" dirty="0">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potensial mengingat format video pendek di TikTok biasanya digunakan untuk membangun keterlibatan awal </a:t>
            </a:r>
            <a:r>
              <a:rPr lang="en-US" altLang="id-ID" sz="1600" dirty="0">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00000"/>
              </a:lnSpc>
              <a:spcBef>
                <a:spcPct val="0"/>
              </a:spcBef>
              <a:spcAft>
                <a:spcPct val="0"/>
              </a:spcAft>
              <a:buClrTx/>
              <a:buSzTx/>
              <a:tabLst/>
            </a:pPr>
            <a:r>
              <a:rPr kumimoji="0" lang="en-US" altLang="id-ID" sz="16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id-ID" altLang="id-ID"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awareness/engagement</a:t>
            </a:r>
            <a:r>
              <a:rPr kumimoji="0" lang="id-ID"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id-ID"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lang="en-US" altLang="id-ID"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Recommendation: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id-ID" sz="1600" b="1" dirty="0">
                <a:latin typeface="Times New Roman" panose="02020603050405020304" pitchFamily="18" charset="0"/>
                <a:cs typeface="Times New Roman" panose="02020603050405020304" pitchFamily="18" charset="0"/>
              </a:rPr>
              <a:t>Fokuskan Kampanye Konversi di Instagram &amp; X:</a:t>
            </a:r>
            <a:r>
              <a:rPr lang="id-ID" sz="16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Alokasikan </a:t>
            </a:r>
            <a:r>
              <a:rPr lang="id-ID" sz="1600" i="1" dirty="0">
                <a:latin typeface="Times New Roman" panose="02020603050405020304" pitchFamily="18" charset="0"/>
                <a:cs typeface="Times New Roman" panose="02020603050405020304" pitchFamily="18" charset="0"/>
              </a:rPr>
              <a:t>Call-to-Action</a:t>
            </a:r>
            <a:r>
              <a:rPr lang="id-ID" sz="1600" dirty="0">
                <a:latin typeface="Times New Roman" panose="02020603050405020304" pitchFamily="18" charset="0"/>
                <a:cs typeface="Times New Roman" panose="02020603050405020304" pitchFamily="18" charset="0"/>
              </a:rPr>
              <a:t> (CTA) beriklan/penjualan (</a:t>
            </a:r>
            <a:r>
              <a:rPr lang="id-ID" sz="1600" i="1" dirty="0">
                <a:latin typeface="Times New Roman" panose="02020603050405020304" pitchFamily="18" charset="0"/>
                <a:cs typeface="Times New Roman" panose="02020603050405020304" pitchFamily="18" charset="0"/>
              </a:rPr>
              <a:t>conversion-focused</a:t>
            </a:r>
            <a:r>
              <a:rPr lang="id-ID" sz="1600" dirty="0">
                <a:latin typeface="Times New Roman" panose="02020603050405020304" pitchFamily="18" charset="0"/>
                <a:cs typeface="Times New Roman" panose="02020603050405020304" pitchFamily="18" charset="0"/>
              </a:rPr>
              <a:t>) pada Instagram dan X untuk memaksimalkan penangkapan trafik.</a:t>
            </a:r>
            <a:endParaRPr lang="en-US" sz="1600" b="1"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2"/>
              <a:tabLst/>
            </a:pPr>
            <a:r>
              <a:rPr lang="id-ID" sz="1600" b="1" dirty="0">
                <a:latin typeface="Times New Roman" panose="02020603050405020304" pitchFamily="18" charset="0"/>
                <a:cs typeface="Times New Roman" panose="02020603050405020304" pitchFamily="18" charset="0"/>
              </a:rPr>
              <a:t>Optimasi Hook CTA di TikTok:</a:t>
            </a:r>
            <a:r>
              <a:rPr lang="id-ID" sz="16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en-US" sz="1600" dirty="0">
                <a:latin typeface="Times New Roman" panose="02020603050405020304" pitchFamily="18" charset="0"/>
                <a:cs typeface="Times New Roman" panose="02020603050405020304" pitchFamily="18" charset="0"/>
              </a:rPr>
              <a:t>       </a:t>
            </a:r>
            <a:r>
              <a:rPr lang="id-ID" sz="1600" dirty="0">
                <a:latin typeface="Times New Roman" panose="02020603050405020304" pitchFamily="18" charset="0"/>
                <a:cs typeface="Times New Roman" panose="02020603050405020304" pitchFamily="18" charset="0"/>
              </a:rPr>
              <a:t>Sisipkan CTA yang lebih jelas di akhir video TikTok (seperti </a:t>
            </a:r>
            <a:r>
              <a:rPr lang="id-ID" sz="1600" i="1" dirty="0">
                <a:latin typeface="Times New Roman" panose="02020603050405020304" pitchFamily="18" charset="0"/>
                <a:cs typeface="Times New Roman" panose="02020603050405020304" pitchFamily="18" charset="0"/>
              </a:rPr>
              <a:t>link in bio</a:t>
            </a:r>
            <a:r>
              <a:rPr lang="id-ID" sz="1600" dirty="0">
                <a:latin typeface="Times New Roman" panose="02020603050405020304" pitchFamily="18" charset="0"/>
                <a:cs typeface="Times New Roman" panose="02020603050405020304" pitchFamily="18" charset="0"/>
              </a:rPr>
              <a:t> / promo khusus) untuk mendorong konversi tanpa mengganggu</a:t>
            </a:r>
            <a:endParaRPr lang="en-US" sz="1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id-ID" sz="16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experience.</a:t>
            </a:r>
            <a:endParaRPr kumimoji="0" lang="id-ID" altLang="id-ID"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7050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58972" y="274320"/>
            <a:ext cx="4769254" cy="584775"/>
          </a:xfrm>
          <a:prstGeom prst="rect">
            <a:avLst/>
          </a:prstGeom>
          <a:noFill/>
        </p:spPr>
        <p:txBody>
          <a:bodyPr wrap="none">
            <a:spAutoFit/>
          </a:bodyPr>
          <a:lstStyle/>
          <a:p>
            <a:pPr algn="ctr">
              <a:defRPr sz="2400" b="1">
                <a:solidFill>
                  <a:srgbClr val="1F4E79"/>
                </a:solidFill>
              </a:defRPr>
            </a:pPr>
            <a:r>
              <a:rPr sz="3200" dirty="0">
                <a:latin typeface="Times New Roman" panose="02020603050405020304" pitchFamily="18" charset="0"/>
                <a:cs typeface="Times New Roman" panose="02020603050405020304" pitchFamily="18" charset="0"/>
              </a:rPr>
              <a:t>Expected Business Impact</a:t>
            </a:r>
          </a:p>
        </p:txBody>
      </p:sp>
      <p:sp>
        <p:nvSpPr>
          <p:cNvPr id="7" name="TextBox 6">
            <a:extLst>
              <a:ext uri="{FF2B5EF4-FFF2-40B4-BE49-F238E27FC236}">
                <a16:creationId xmlns:a16="http://schemas.microsoft.com/office/drawing/2014/main" id="{AD19EAA7-AB8B-D9C6-9C8F-E38FCF2C61A8}"/>
              </a:ext>
            </a:extLst>
          </p:cNvPr>
          <p:cNvSpPr txBox="1"/>
          <p:nvPr/>
        </p:nvSpPr>
        <p:spPr>
          <a:xfrm>
            <a:off x="79744" y="859095"/>
            <a:ext cx="12112256" cy="923330"/>
          </a:xfrm>
          <a:prstGeom prst="rect">
            <a:avLst/>
          </a:prstGeom>
          <a:noFill/>
        </p:spPr>
        <p:txBody>
          <a:bodyPr wrap="square">
            <a:spAutoFit/>
          </a:bodyPr>
          <a:lstStyle/>
          <a:p>
            <a:r>
              <a:rPr lang="id-ID" dirty="0">
                <a:latin typeface="Times New Roman" panose="02020603050405020304" pitchFamily="18" charset="0"/>
                <a:cs typeface="Times New Roman" panose="02020603050405020304" pitchFamily="18" charset="0"/>
              </a:rPr>
              <a:t>Implementasi rekomendasi diharapkan meningkatkan konsistensi kampanye, memperluas jangkauan </a:t>
            </a:r>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platform yang masih memiliki potensi pertumbuhan, mengoptimalkan komposisi konten, serta</a:t>
            </a:r>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meningkatkan efektivitas kampanye melalui monitoring berbasis dashboard Power BI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dengan</a:t>
            </a:r>
            <a:r>
              <a:rPr lang="en-US" dirty="0">
                <a:latin typeface="Times New Roman" panose="02020603050405020304" pitchFamily="18" charset="0"/>
                <a:cs typeface="Times New Roman" panose="02020603050405020304" pitchFamily="18" charset="0"/>
              </a:rPr>
              <a:t> target Improvement </a:t>
            </a:r>
            <a:r>
              <a:rPr lang="en-US" dirty="0" err="1">
                <a:latin typeface="Times New Roman" panose="02020603050405020304" pitchFamily="18" charset="0"/>
                <a:cs typeface="Times New Roman" panose="02020603050405020304" pitchFamily="18" charset="0"/>
              </a:rPr>
              <a:t>sebagai</a:t>
            </a:r>
            <a:r>
              <a:rPr lang="en-US" dirty="0">
                <a:latin typeface="Times New Roman" panose="02020603050405020304" pitchFamily="18" charset="0"/>
                <a:cs typeface="Times New Roman" panose="02020603050405020304" pitchFamily="18" charset="0"/>
              </a:rPr>
              <a:t> Berikut:</a:t>
            </a:r>
          </a:p>
        </p:txBody>
      </p:sp>
      <p:graphicFrame>
        <p:nvGraphicFramePr>
          <p:cNvPr id="8" name="Table 8">
            <a:extLst>
              <a:ext uri="{FF2B5EF4-FFF2-40B4-BE49-F238E27FC236}">
                <a16:creationId xmlns:a16="http://schemas.microsoft.com/office/drawing/2014/main" id="{92CAC533-1438-5087-1979-A72556F7BAF7}"/>
              </a:ext>
            </a:extLst>
          </p:cNvPr>
          <p:cNvGraphicFramePr>
            <a:graphicFrameLocks noGrp="1"/>
          </p:cNvGraphicFramePr>
          <p:nvPr>
            <p:extLst>
              <p:ext uri="{D42A27DB-BD31-4B8C-83A1-F6EECF244321}">
                <p14:modId xmlns:p14="http://schemas.microsoft.com/office/powerpoint/2010/main" val="1010444498"/>
              </p:ext>
            </p:extLst>
          </p:nvPr>
        </p:nvGraphicFramePr>
        <p:xfrm>
          <a:off x="493160" y="1894800"/>
          <a:ext cx="11157736" cy="4663440"/>
        </p:xfrm>
        <a:graphic>
          <a:graphicData uri="http://schemas.openxmlformats.org/drawingml/2006/table">
            <a:tbl>
              <a:tblPr firstRow="1" bandRow="1">
                <a:tableStyleId>{5C22544A-7EE6-4342-B048-85BDC9FD1C3A}</a:tableStyleId>
              </a:tblPr>
              <a:tblGrid>
                <a:gridCol w="2311685">
                  <a:extLst>
                    <a:ext uri="{9D8B030D-6E8A-4147-A177-3AD203B41FA5}">
                      <a16:colId xmlns:a16="http://schemas.microsoft.com/office/drawing/2014/main" val="284632678"/>
                    </a:ext>
                  </a:extLst>
                </a:gridCol>
                <a:gridCol w="2024009">
                  <a:extLst>
                    <a:ext uri="{9D8B030D-6E8A-4147-A177-3AD203B41FA5}">
                      <a16:colId xmlns:a16="http://schemas.microsoft.com/office/drawing/2014/main" val="2327873092"/>
                    </a:ext>
                  </a:extLst>
                </a:gridCol>
                <a:gridCol w="2342508">
                  <a:extLst>
                    <a:ext uri="{9D8B030D-6E8A-4147-A177-3AD203B41FA5}">
                      <a16:colId xmlns:a16="http://schemas.microsoft.com/office/drawing/2014/main" val="3182614671"/>
                    </a:ext>
                  </a:extLst>
                </a:gridCol>
                <a:gridCol w="4479534">
                  <a:extLst>
                    <a:ext uri="{9D8B030D-6E8A-4147-A177-3AD203B41FA5}">
                      <a16:colId xmlns:a16="http://schemas.microsoft.com/office/drawing/2014/main" val="895511733"/>
                    </a:ext>
                  </a:extLst>
                </a:gridCol>
              </a:tblGrid>
              <a:tr h="303869">
                <a:tc>
                  <a:txBody>
                    <a:bodyPr/>
                    <a:lstStyle/>
                    <a:p>
                      <a:pPr algn="ctr"/>
                      <a:r>
                        <a:rPr lang="id-ID" dirty="0"/>
                        <a:t>Area</a:t>
                      </a:r>
                    </a:p>
                  </a:txBody>
                  <a:tcPr anchor="ctr"/>
                </a:tc>
                <a:tc>
                  <a:txBody>
                    <a:bodyPr/>
                    <a:lstStyle/>
                    <a:p>
                      <a:pPr algn="ctr"/>
                      <a:r>
                        <a:rPr lang="id-ID" dirty="0"/>
                        <a:t>Current</a:t>
                      </a:r>
                    </a:p>
                  </a:txBody>
                  <a:tcPr/>
                </a:tc>
                <a:tc>
                  <a:txBody>
                    <a:bodyPr/>
                    <a:lstStyle/>
                    <a:p>
                      <a:pPr algn="ctr"/>
                      <a:r>
                        <a:rPr lang="id-ID" dirty="0"/>
                        <a:t>Target</a:t>
                      </a:r>
                    </a:p>
                  </a:txBody>
                  <a:tcPr/>
                </a:tc>
                <a:tc>
                  <a:txBody>
                    <a:bodyPr/>
                    <a:lstStyle/>
                    <a:p>
                      <a:pPr algn="ctr"/>
                      <a:r>
                        <a:rPr lang="en-US" dirty="0" err="1"/>
                        <a:t>Tujuan</a:t>
                      </a:r>
                      <a:r>
                        <a:rPr lang="en-US" dirty="0"/>
                        <a:t> </a:t>
                      </a:r>
                      <a:endParaRPr lang="id-ID" dirty="0"/>
                    </a:p>
                  </a:txBody>
                  <a:tcPr/>
                </a:tc>
                <a:extLst>
                  <a:ext uri="{0D108BD9-81ED-4DB2-BD59-A6C34878D82A}">
                    <a16:rowId xmlns:a16="http://schemas.microsoft.com/office/drawing/2014/main" val="1667808752"/>
                  </a:ext>
                </a:extLst>
              </a:tr>
              <a:tr h="638182">
                <a:tc>
                  <a:txBody>
                    <a:bodyPr/>
                    <a:lstStyle/>
                    <a:p>
                      <a:r>
                        <a:rPr lang="id-ID" dirty="0"/>
                        <a:t>Monthly Posting</a:t>
                      </a:r>
                    </a:p>
                  </a:txBody>
                  <a:tcPr/>
                </a:tc>
                <a:tc>
                  <a:txBody>
                    <a:bodyPr/>
                    <a:lstStyle/>
                    <a:p>
                      <a:r>
                        <a:rPr lang="id-ID" dirty="0"/>
                        <a:t>66–96</a:t>
                      </a:r>
                    </a:p>
                  </a:txBody>
                  <a:tcPr/>
                </a:tc>
                <a:tc>
                  <a:txBody>
                    <a:bodyPr/>
                    <a:lstStyle/>
                    <a:p>
                      <a:r>
                        <a:rPr lang="id-ID" dirty="0"/>
                        <a:t>Minimum 80</a:t>
                      </a:r>
                      <a:r>
                        <a:rPr lang="en-US" dirty="0"/>
                        <a:t> post</a:t>
                      </a:r>
                      <a:r>
                        <a:rPr lang="id-ID" dirty="0"/>
                        <a:t>/Bulan</a:t>
                      </a:r>
                    </a:p>
                  </a:txBody>
                  <a:tcPr/>
                </a:tc>
                <a:tc>
                  <a:txBody>
                    <a:bodyPr/>
                    <a:lstStyle/>
                    <a:p>
                      <a:r>
                        <a:rPr lang="it-IT" dirty="0"/>
                        <a:t>Menjaga stabilitas operasional &amp; mencegah </a:t>
                      </a:r>
                      <a:r>
                        <a:rPr lang="it-IT" i="1" dirty="0"/>
                        <a:t>drop</a:t>
                      </a:r>
                      <a:r>
                        <a:rPr lang="it-IT" dirty="0"/>
                        <a:t> di bulan sepi (seperti April &amp; Nov).</a:t>
                      </a:r>
                      <a:endParaRPr lang="id-ID" dirty="0"/>
                    </a:p>
                  </a:txBody>
                  <a:tcPr/>
                </a:tc>
                <a:extLst>
                  <a:ext uri="{0D108BD9-81ED-4DB2-BD59-A6C34878D82A}">
                    <a16:rowId xmlns:a16="http://schemas.microsoft.com/office/drawing/2014/main" val="749366112"/>
                  </a:ext>
                </a:extLst>
              </a:tr>
              <a:tr h="638182">
                <a:tc>
                  <a:txBody>
                    <a:bodyPr/>
                    <a:lstStyle/>
                    <a:p>
                      <a:r>
                        <a:rPr lang="id-ID" dirty="0"/>
                        <a:t>TikTok Reach Share</a:t>
                      </a:r>
                    </a:p>
                  </a:txBody>
                  <a:tcPr/>
                </a:tc>
                <a:tc>
                  <a:txBody>
                    <a:bodyPr/>
                    <a:lstStyle/>
                    <a:p>
                      <a:r>
                        <a:rPr lang="id-ID" dirty="0"/>
                        <a:t>18.83%</a:t>
                      </a:r>
                    </a:p>
                  </a:txBody>
                  <a:tcPr/>
                </a:tc>
                <a:tc>
                  <a:txBody>
                    <a:bodyPr/>
                    <a:lstStyle/>
                    <a:p>
                      <a:r>
                        <a:rPr lang="id-ID" dirty="0"/>
                        <a:t>22–24%</a:t>
                      </a:r>
                    </a:p>
                  </a:txBody>
                  <a:tcPr/>
                </a:tc>
                <a:tc>
                  <a:txBody>
                    <a:bodyPr/>
                    <a:lstStyle/>
                    <a:p>
                      <a:r>
                        <a:rPr lang="fi-FI" dirty="0"/>
                        <a:t>Mengoptimalkan potensi pertumbuhan organik di TikTok yang saat ini masih terendah.</a:t>
                      </a:r>
                      <a:endParaRPr lang="id-ID" dirty="0"/>
                    </a:p>
                  </a:txBody>
                  <a:tcPr/>
                </a:tc>
                <a:extLst>
                  <a:ext uri="{0D108BD9-81ED-4DB2-BD59-A6C34878D82A}">
                    <a16:rowId xmlns:a16="http://schemas.microsoft.com/office/drawing/2014/main" val="381470056"/>
                  </a:ext>
                </a:extLst>
              </a:tr>
              <a:tr h="638182">
                <a:tc>
                  <a:txBody>
                    <a:bodyPr/>
                    <a:lstStyle/>
                    <a:p>
                      <a:r>
                        <a:rPr lang="id-ID" dirty="0"/>
                        <a:t>Reels Share</a:t>
                      </a:r>
                    </a:p>
                  </a:txBody>
                  <a:tcPr/>
                </a:tc>
                <a:tc>
                  <a:txBody>
                    <a:bodyPr/>
                    <a:lstStyle/>
                    <a:p>
                      <a:r>
                        <a:rPr lang="id-ID" dirty="0"/>
                        <a:t>16%</a:t>
                      </a:r>
                    </a:p>
                  </a:txBody>
                  <a:tcPr/>
                </a:tc>
                <a:tc>
                  <a:txBody>
                    <a:bodyPr/>
                    <a:lstStyle/>
                    <a:p>
                      <a:r>
                        <a:rPr lang="id-ID" dirty="0"/>
                        <a:t>22–25%</a:t>
                      </a:r>
                    </a:p>
                  </a:txBody>
                  <a:tcPr/>
                </a:tc>
                <a:tc>
                  <a:txBody>
                    <a:bodyPr/>
                    <a:lstStyle/>
                    <a:p>
                      <a:r>
                        <a:rPr lang="id-ID" dirty="0"/>
                        <a:t>Mendorong alokasi konten format pendek yang memiliki potensi viralitas tinggi.</a:t>
                      </a:r>
                    </a:p>
                  </a:txBody>
                  <a:tcPr/>
                </a:tc>
                <a:extLst>
                  <a:ext uri="{0D108BD9-81ED-4DB2-BD59-A6C34878D82A}">
                    <a16:rowId xmlns:a16="http://schemas.microsoft.com/office/drawing/2014/main" val="1196544780"/>
                  </a:ext>
                </a:extLst>
              </a:tr>
              <a:tr h="638182">
                <a:tc>
                  <a:txBody>
                    <a:bodyPr/>
                    <a:lstStyle/>
                    <a:p>
                      <a:r>
                        <a:rPr lang="id-ID" dirty="0"/>
                        <a:t>Total Clicks / CTR</a:t>
                      </a:r>
                    </a:p>
                  </a:txBody>
                  <a:tcPr/>
                </a:tc>
                <a:tc>
                  <a:txBody>
                    <a:bodyPr/>
                    <a:lstStyle/>
                    <a:p>
                      <a:r>
                        <a:rPr lang="id-ID" dirty="0"/>
                        <a:t>823 Ribu Clicks (CTR ~1,48%)</a:t>
                      </a:r>
                    </a:p>
                  </a:txBody>
                  <a:tcPr/>
                </a:tc>
                <a:tc>
                  <a:txBody>
                    <a:bodyPr/>
                    <a:lstStyle/>
                    <a:p>
                      <a:r>
                        <a:rPr lang="id-ID" dirty="0"/>
                        <a:t>Peningkatan Clicks +10% s.d. +15%</a:t>
                      </a:r>
                    </a:p>
                  </a:txBody>
                  <a:tcPr/>
                </a:tc>
                <a:tc>
                  <a:txBody>
                    <a:bodyPr/>
                    <a:lstStyle/>
                    <a:p>
                      <a:r>
                        <a:rPr lang="id-ID" dirty="0"/>
                        <a:t>Menunjukkan dampak langsung pada trafik/konversi bisnis.</a:t>
                      </a:r>
                    </a:p>
                  </a:txBody>
                  <a:tcPr/>
                </a:tc>
                <a:extLst>
                  <a:ext uri="{0D108BD9-81ED-4DB2-BD59-A6C34878D82A}">
                    <a16:rowId xmlns:a16="http://schemas.microsoft.com/office/drawing/2014/main" val="2024361638"/>
                  </a:ext>
                </a:extLst>
              </a:tr>
              <a:tr h="638182">
                <a:tc>
                  <a:txBody>
                    <a:bodyPr/>
                    <a:lstStyle/>
                    <a:p>
                      <a:r>
                        <a:rPr lang="id-ID" dirty="0"/>
                        <a:t>Engagement Rate</a:t>
                      </a:r>
                    </a:p>
                  </a:txBody>
                  <a:tcPr/>
                </a:tc>
                <a:tc>
                  <a:txBody>
                    <a:bodyPr/>
                    <a:lstStyle/>
                    <a:p>
                      <a:r>
                        <a:rPr lang="id-ID" dirty="0"/>
                        <a:t>8.01%</a:t>
                      </a:r>
                    </a:p>
                  </a:txBody>
                  <a:tcPr/>
                </a:tc>
                <a:tc>
                  <a:txBody>
                    <a:bodyPr/>
                    <a:lstStyle/>
                    <a:p>
                      <a:r>
                        <a:rPr lang="id-ID" dirty="0"/>
                        <a:t>Dipertahankan pada </a:t>
                      </a:r>
                      <a:r>
                        <a:rPr lang="en-US" sz="1800" kern="1200" dirty="0">
                          <a:solidFill>
                            <a:schemeClr val="dk1"/>
                          </a:solidFill>
                          <a:effectLst/>
                          <a:latin typeface="+mn-lt"/>
                          <a:ea typeface="+mn-ea"/>
                          <a:cs typeface="+mn-cs"/>
                        </a:rPr>
                        <a:t>&gt;= </a:t>
                      </a:r>
                      <a:r>
                        <a:rPr lang="id-ID" dirty="0"/>
                        <a:t>8,00%</a:t>
                      </a:r>
                    </a:p>
                  </a:txBody>
                  <a:tcPr/>
                </a:tc>
                <a:tc>
                  <a:txBody>
                    <a:bodyPr/>
                    <a:lstStyle/>
                    <a:p>
                      <a:r>
                        <a:rPr lang="id-ID" dirty="0"/>
                        <a:t>Memastikan kualitas keterlibatan audiens tetap tinggi seiring peningkatan volume postingan.</a:t>
                      </a:r>
                    </a:p>
                  </a:txBody>
                  <a:tcPr/>
                </a:tc>
                <a:extLst>
                  <a:ext uri="{0D108BD9-81ED-4DB2-BD59-A6C34878D82A}">
                    <a16:rowId xmlns:a16="http://schemas.microsoft.com/office/drawing/2014/main" val="413084028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91232" y="222950"/>
            <a:ext cx="2145139" cy="584775"/>
          </a:xfrm>
          <a:prstGeom prst="rect">
            <a:avLst/>
          </a:prstGeom>
          <a:noFill/>
        </p:spPr>
        <p:txBody>
          <a:bodyPr wrap="none">
            <a:spAutoFit/>
          </a:bodyPr>
          <a:lstStyle/>
          <a:p>
            <a:pPr algn="ctr">
              <a:defRPr sz="2400" b="1">
                <a:solidFill>
                  <a:srgbClr val="1F4E79"/>
                </a:solidFill>
              </a:defRPr>
            </a:pPr>
            <a:r>
              <a:rPr sz="3200" dirty="0">
                <a:latin typeface="Times New Roman" panose="02020603050405020304" pitchFamily="18" charset="0"/>
                <a:cs typeface="Times New Roman" panose="02020603050405020304" pitchFamily="18" charset="0"/>
              </a:rPr>
              <a:t>Conclusion</a:t>
            </a:r>
          </a:p>
        </p:txBody>
      </p:sp>
      <p:sp>
        <p:nvSpPr>
          <p:cNvPr id="6" name="TextBox 5">
            <a:extLst>
              <a:ext uri="{FF2B5EF4-FFF2-40B4-BE49-F238E27FC236}">
                <a16:creationId xmlns:a16="http://schemas.microsoft.com/office/drawing/2014/main" id="{4FBA2D12-BD75-0E39-899A-AB2638B79F87}"/>
              </a:ext>
            </a:extLst>
          </p:cNvPr>
          <p:cNvSpPr txBox="1"/>
          <p:nvPr/>
        </p:nvSpPr>
        <p:spPr>
          <a:xfrm>
            <a:off x="192760" y="859095"/>
            <a:ext cx="12112256" cy="3970318"/>
          </a:xfrm>
          <a:prstGeom prst="rect">
            <a:avLst/>
          </a:prstGeom>
          <a:noFill/>
        </p:spPr>
        <p:txBody>
          <a:bodyPr wrap="square">
            <a:spAutoFit/>
          </a:bodyPr>
          <a:lstStyle/>
          <a:p>
            <a:pPr marL="342900" indent="-342900">
              <a:buFont typeface="+mj-lt"/>
              <a:buAutoNum type="arabicPeriod"/>
            </a:pPr>
            <a:r>
              <a:rPr lang="id-ID" b="1" dirty="0">
                <a:latin typeface="Times New Roman" panose="02020603050405020304" pitchFamily="18" charset="0"/>
                <a:cs typeface="Times New Roman" panose="02020603050405020304" pitchFamily="18" charset="0"/>
              </a:rPr>
              <a:t>Integrasi Pelaporan &amp; Evaluasi Menyeluruh</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Konsolidasi seluruh metrik kampanye media sosial ke dalam satu dasbor terpadu memberikan visibilitas penuh bagi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manajemen untuk melakukan evaluasi spesifik per kampanye dan demografi audiens..</a:t>
            </a:r>
          </a:p>
          <a:p>
            <a:pPr marL="342900" indent="-342900">
              <a:buFont typeface="+mj-lt"/>
              <a:buAutoNum type="arabicPeriod" startAt="2"/>
            </a:pPr>
            <a:r>
              <a:rPr lang="id-ID" b="1" dirty="0">
                <a:latin typeface="Times New Roman" panose="02020603050405020304" pitchFamily="18" charset="0"/>
                <a:cs typeface="Times New Roman" panose="02020603050405020304" pitchFamily="18" charset="0"/>
              </a:rPr>
              <a:t>Keseimbangan Ekosistem vs. Kejelasan Peran Kanal</a:t>
            </a:r>
          </a:p>
          <a:p>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Seluruh platform menunjukkan performa jangkauan (</a:t>
            </a:r>
            <a:r>
              <a:rPr lang="id-ID" i="1" dirty="0">
                <a:latin typeface="Times New Roman" panose="02020603050405020304" pitchFamily="18" charset="0"/>
                <a:cs typeface="Times New Roman" panose="02020603050405020304" pitchFamily="18" charset="0"/>
              </a:rPr>
              <a:t>Reach</a:t>
            </a:r>
            <a:r>
              <a:rPr lang="id-ID" dirty="0">
                <a:latin typeface="Times New Roman" panose="02020603050405020304" pitchFamily="18" charset="0"/>
                <a:cs typeface="Times New Roman" panose="02020603050405020304" pitchFamily="18" charset="0"/>
              </a:rPr>
              <a:t>) yang seimbang. Namun, </a:t>
            </a:r>
            <a:r>
              <a:rPr lang="id-ID" b="1" dirty="0">
                <a:latin typeface="Times New Roman" panose="02020603050405020304" pitchFamily="18" charset="0"/>
                <a:cs typeface="Times New Roman" panose="02020603050405020304" pitchFamily="18" charset="0"/>
              </a:rPr>
              <a:t>Instagram</a:t>
            </a:r>
            <a:r>
              <a:rPr lang="id-ID" dirty="0">
                <a:latin typeface="Times New Roman" panose="02020603050405020304" pitchFamily="18" charset="0"/>
                <a:cs typeface="Times New Roman" panose="02020603050405020304" pitchFamily="18" charset="0"/>
              </a:rPr>
              <a:t> dan </a:t>
            </a:r>
            <a:r>
              <a:rPr lang="id-ID" b="1" dirty="0">
                <a:latin typeface="Times New Roman" panose="02020603050405020304" pitchFamily="18" charset="0"/>
                <a:cs typeface="Times New Roman" panose="02020603050405020304" pitchFamily="18" charset="0"/>
              </a:rPr>
              <a:t>X (Twitter)</a:t>
            </a:r>
            <a:r>
              <a:rPr lang="id-ID" dirty="0">
                <a:latin typeface="Times New Roman" panose="02020603050405020304" pitchFamily="18" charset="0"/>
                <a:cs typeface="Times New Roman" panose="02020603050405020304" pitchFamily="18" charset="0"/>
              </a:rPr>
              <a:t> terbukti </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paling efektif sebagai penggerak utama trafik (</a:t>
            </a:r>
            <a:r>
              <a:rPr lang="id-ID" i="1" dirty="0">
                <a:latin typeface="Times New Roman" panose="02020603050405020304" pitchFamily="18" charset="0"/>
                <a:cs typeface="Times New Roman" panose="02020603050405020304" pitchFamily="18" charset="0"/>
              </a:rPr>
              <a:t>Clicks</a:t>
            </a:r>
            <a:r>
              <a:rPr lang="id-ID" dirty="0">
                <a:latin typeface="Times New Roman" panose="02020603050405020304" pitchFamily="18" charset="0"/>
                <a:cs typeface="Times New Roman" panose="02020603050405020304" pitchFamily="18" charset="0"/>
              </a:rPr>
              <a:t>), sementara </a:t>
            </a:r>
            <a:r>
              <a:rPr lang="id-ID" b="1" dirty="0">
                <a:latin typeface="Times New Roman" panose="02020603050405020304" pitchFamily="18" charset="0"/>
                <a:cs typeface="Times New Roman" panose="02020603050405020304" pitchFamily="18" charset="0"/>
              </a:rPr>
              <a:t>TikTok</a:t>
            </a:r>
            <a:r>
              <a:rPr lang="id-ID" dirty="0">
                <a:latin typeface="Times New Roman" panose="02020603050405020304" pitchFamily="18" charset="0"/>
                <a:cs typeface="Times New Roman" panose="02020603050405020304" pitchFamily="18" charset="0"/>
              </a:rPr>
              <a:t> memiliki </a:t>
            </a:r>
            <a:r>
              <a:rPr lang="id-ID" i="1" dirty="0">
                <a:latin typeface="Times New Roman" panose="02020603050405020304" pitchFamily="18" charset="0"/>
                <a:cs typeface="Times New Roman" panose="02020603050405020304" pitchFamily="18" charset="0"/>
              </a:rPr>
              <a:t>headroom</a:t>
            </a:r>
            <a:r>
              <a:rPr lang="id-ID" dirty="0">
                <a:latin typeface="Times New Roman" panose="02020603050405020304" pitchFamily="18" charset="0"/>
                <a:cs typeface="Times New Roman" panose="02020603050405020304" pitchFamily="18" charset="0"/>
              </a:rPr>
              <a:t> terbesar untuk pertumbuhan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audiens baru.</a:t>
            </a:r>
          </a:p>
          <a:p>
            <a:pPr marL="342900" indent="-342900">
              <a:buFont typeface="+mj-lt"/>
              <a:buAutoNum type="arabicPeriod" startAt="3"/>
            </a:pPr>
            <a:r>
              <a:rPr lang="id-ID" b="1" dirty="0">
                <a:latin typeface="Times New Roman" panose="02020603050405020304" pitchFamily="18" charset="0"/>
                <a:cs typeface="Times New Roman" panose="02020603050405020304" pitchFamily="18" charset="0"/>
              </a:rPr>
              <a:t>Keselarasan Preference Audiens &amp; Efisiensi Konten</a:t>
            </a:r>
          </a:p>
          <a:p>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Audiens memberikan respons tertinggi pada konten visual informatif/edukatif (</a:t>
            </a:r>
            <a:r>
              <a:rPr lang="id-ID" b="1" dirty="0">
                <a:latin typeface="Times New Roman" panose="02020603050405020304" pitchFamily="18" charset="0"/>
                <a:cs typeface="Times New Roman" panose="02020603050405020304" pitchFamily="18" charset="0"/>
              </a:rPr>
              <a:t>Infographic</a:t>
            </a:r>
            <a:r>
              <a:rPr lang="id-ID" dirty="0">
                <a:latin typeface="Times New Roman" panose="02020603050405020304" pitchFamily="18" charset="0"/>
                <a:cs typeface="Times New Roman" panose="02020603050405020304" pitchFamily="18" charset="0"/>
              </a:rPr>
              <a:t> &amp; </a:t>
            </a:r>
            <a:r>
              <a:rPr lang="id-ID" b="1" dirty="0">
                <a:latin typeface="Times New Roman" panose="02020603050405020304" pitchFamily="18" charset="0"/>
                <a:cs typeface="Times New Roman" panose="02020603050405020304" pitchFamily="18" charset="0"/>
              </a:rPr>
              <a:t>Image</a:t>
            </a:r>
            <a:r>
              <a:rPr lang="id-ID" dirty="0">
                <a:latin typeface="Times New Roman" panose="02020603050405020304" pitchFamily="18" charset="0"/>
                <a:cs typeface="Times New Roman" panose="02020603050405020304" pitchFamily="18" charset="0"/>
              </a:rPr>
              <a:t>). Terdapat inefisiensi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pada produksi format video (</a:t>
            </a:r>
            <a:r>
              <a:rPr lang="id-ID" b="1" dirty="0">
                <a:latin typeface="Times New Roman" panose="02020603050405020304" pitchFamily="18" charset="0"/>
                <a:cs typeface="Times New Roman" panose="02020603050405020304" pitchFamily="18" charset="0"/>
              </a:rPr>
              <a:t>Reels</a:t>
            </a:r>
            <a:r>
              <a:rPr lang="id-ID" dirty="0">
                <a:latin typeface="Times New Roman" panose="02020603050405020304" pitchFamily="18" charset="0"/>
                <a:cs typeface="Times New Roman" panose="02020603050405020304" pitchFamily="18" charset="0"/>
              </a:rPr>
              <a:t> &amp; </a:t>
            </a:r>
            <a:r>
              <a:rPr lang="id-ID" b="1" dirty="0">
                <a:latin typeface="Times New Roman" panose="02020603050405020304" pitchFamily="18" charset="0"/>
                <a:cs typeface="Times New Roman" panose="02020603050405020304" pitchFamily="18" charset="0"/>
              </a:rPr>
              <a:t>Video</a:t>
            </a:r>
            <a:r>
              <a:rPr lang="id-ID" dirty="0">
                <a:latin typeface="Times New Roman" panose="02020603050405020304" pitchFamily="18" charset="0"/>
                <a:cs typeface="Times New Roman" panose="02020603050405020304" pitchFamily="18" charset="0"/>
              </a:rPr>
              <a:t>) yang belum menghasilkan </a:t>
            </a:r>
            <a:r>
              <a:rPr lang="id-ID" i="1" dirty="0">
                <a:latin typeface="Times New Roman" panose="02020603050405020304" pitchFamily="18" charset="0"/>
                <a:cs typeface="Times New Roman" panose="02020603050405020304" pitchFamily="18" charset="0"/>
              </a:rPr>
              <a:t>engagement rate</a:t>
            </a:r>
            <a:r>
              <a:rPr lang="id-ID" dirty="0">
                <a:latin typeface="Times New Roman" panose="02020603050405020304" pitchFamily="18" charset="0"/>
                <a:cs typeface="Times New Roman" panose="02020603050405020304" pitchFamily="18" charset="0"/>
              </a:rPr>
              <a:t> sepadan dengan effort produksinya.</a:t>
            </a:r>
          </a:p>
          <a:p>
            <a:pPr marL="342900" indent="-342900">
              <a:buFont typeface="+mj-lt"/>
              <a:buAutoNum type="arabicPeriod" startAt="4"/>
            </a:pPr>
            <a:r>
              <a:rPr lang="id-ID" b="1" dirty="0">
                <a:latin typeface="Times New Roman" panose="02020603050405020304" pitchFamily="18" charset="0"/>
                <a:cs typeface="Times New Roman" panose="02020603050405020304" pitchFamily="18" charset="0"/>
              </a:rPr>
              <a:t>Stabilitas Operasional &amp; Perencanaan Kapasitas</a:t>
            </a:r>
          </a:p>
          <a:p>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Terjadi fluktuasi volume publikasi bulanan yang signifikan (terutama penurunan tajam di bulan April dan November). Hal ini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mengindikasikan perlunya penetapan standar batas minimum postingan (</a:t>
            </a:r>
            <a:r>
              <a:rPr lang="id-ID" i="1" dirty="0">
                <a:latin typeface="Times New Roman" panose="02020603050405020304" pitchFamily="18" charset="0"/>
                <a:cs typeface="Times New Roman" panose="02020603050405020304" pitchFamily="18" charset="0"/>
              </a:rPr>
              <a:t>minimum quota buffer</a:t>
            </a:r>
            <a:r>
              <a:rPr lang="id-ID" dirty="0">
                <a:latin typeface="Times New Roman" panose="02020603050405020304" pitchFamily="18" charset="0"/>
                <a:cs typeface="Times New Roman" panose="02020603050405020304" pitchFamily="18" charset="0"/>
              </a:rPr>
              <a:t>) agar eksposur merek tetap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id-ID" dirty="0">
                <a:latin typeface="Times New Roman" panose="02020603050405020304" pitchFamily="18" charset="0"/>
                <a:cs typeface="Times New Roman" panose="02020603050405020304" pitchFamily="18" charset="0"/>
              </a:rPr>
              <a:t>stabil sepanjang tahun.</a:t>
            </a:r>
          </a:p>
        </p:txBody>
      </p:sp>
      <p:pic>
        <p:nvPicPr>
          <p:cNvPr id="8198" name="Picture 6" descr="Conclusion logo Images - Free Download on Magnific (formerly Freepik)">
            <a:extLst>
              <a:ext uri="{FF2B5EF4-FFF2-40B4-BE49-F238E27FC236}">
                <a16:creationId xmlns:a16="http://schemas.microsoft.com/office/drawing/2014/main" id="{64FF202C-4BC4-4F6C-96E1-14EEE9163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252" y="4906824"/>
            <a:ext cx="2727399" cy="18170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Blue background thank you Vector Images &amp; Graphics for Commercial Use |  VectorStock">
            <a:extLst>
              <a:ext uri="{FF2B5EF4-FFF2-40B4-BE49-F238E27FC236}">
                <a16:creationId xmlns:a16="http://schemas.microsoft.com/office/drawing/2014/main" id="{9BF1BCC4-405D-90A7-77BE-DB58B9CA31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5175" y="1047750"/>
            <a:ext cx="558165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096239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1541</TotalTime>
  <Words>1852</Words>
  <Application>Microsoft Office PowerPoint</Application>
  <PresentationFormat>Widescreen</PresentationFormat>
  <Paragraphs>198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Century Gothic</vt:lpstr>
      <vt:lpstr>Times New Roman</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Fauzan Falah Rabbani</dc:creator>
  <cp:keywords/>
  <dc:description>generated using python-pptx</dc:description>
  <cp:lastModifiedBy>Fauzan Falah Rabbani</cp:lastModifiedBy>
  <cp:revision>63</cp:revision>
  <dcterms:created xsi:type="dcterms:W3CDTF">2013-01-27T09:14:16Z</dcterms:created>
  <dcterms:modified xsi:type="dcterms:W3CDTF">2026-10-11T16:01:38Z</dcterms:modified>
  <cp:category/>
</cp:coreProperties>
</file>